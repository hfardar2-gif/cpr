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5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6.xml" ContentType="application/vnd.openxmlformats-officedocument.drawingml.chart+xml"/>
  <Override PartName="/ppt/slides/charts/chart7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8.xml" ContentType="application/vnd.openxmlformats-officedocument.drawingml.chart+xml"/>
  <Override PartName="/ppt/slides/charts/chart9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0.xml" ContentType="application/vnd.openxmlformats-officedocument.drawingml.chart+xml"/>
  <Override PartName="/ppt/slides/charts/chart1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2.xml" ContentType="application/vnd.openxmlformats-officedocument.drawingml.chart+xml"/>
  <Override PartName="/ppt/slides/charts/chart13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415fb76cde44cf" /><Relationship Type="http://schemas.openxmlformats.org/officeDocument/2006/relationships/extended-properties" Target="/docProps/app.xml" Id="R64062af45a074ead" /><Relationship Type="http://schemas.openxmlformats.org/officeDocument/2006/relationships/officeDocument" Target="/ppt/presentation.xml" Id="Rec3496765f474c7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d2cef5e73445e2"/>
  </p:sldMasterIdLst>
  <p:notesMasterIdLst>
    <p:notesMasterId xmlns:r="http://schemas.openxmlformats.org/officeDocument/2006/relationships" r:id="R44d64b8168914be4"/>
  </p:notesMasterIdLst>
  <p:sldIdLst>
    <p:sldId xmlns:r="http://schemas.openxmlformats.org/officeDocument/2006/relationships" id="256" r:id="Rda7dac7712584c7b"/>
    <p:sldId xmlns:r="http://schemas.openxmlformats.org/officeDocument/2006/relationships" id="257" r:id="Raf062aab518d4e52"/>
    <p:sldId xmlns:r="http://schemas.openxmlformats.org/officeDocument/2006/relationships" id="258" r:id="Rea0be4cbd80842ed"/>
    <p:sldId xmlns:r="http://schemas.openxmlformats.org/officeDocument/2006/relationships" id="259" r:id="Rf5c997924f1d4eff"/>
    <p:sldId xmlns:r="http://schemas.openxmlformats.org/officeDocument/2006/relationships" id="260" r:id="R06fa7455d6524ee8"/>
    <p:sldId xmlns:r="http://schemas.openxmlformats.org/officeDocument/2006/relationships" id="261" r:id="Re36a455c821b4445"/>
    <p:sldId xmlns:r="http://schemas.openxmlformats.org/officeDocument/2006/relationships" id="262" r:id="Rc789711af076445f"/>
    <p:sldId xmlns:r="http://schemas.openxmlformats.org/officeDocument/2006/relationships" id="263" r:id="R7caa1ee2d4b64d0f"/>
    <p:sldId xmlns:r="http://schemas.openxmlformats.org/officeDocument/2006/relationships" id="264" r:id="R84a5721fe183486e"/>
    <p:sldId xmlns:r="http://schemas.openxmlformats.org/officeDocument/2006/relationships" id="265" r:id="Rabaa7cfc4fc94ee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fe089fe115044a1" /><Relationship Type="http://schemas.openxmlformats.org/officeDocument/2006/relationships/slideMaster" Target="/ppt/slideMasters/slideMaster1.xml" Id="Rd7d2cef5e73445e2" /><Relationship Type="http://schemas.openxmlformats.org/officeDocument/2006/relationships/notesMaster" Target="/ppt/notesMasters/notesMaster1.xml" Id="R44d64b8168914be4" /><Relationship Type="http://schemas.openxmlformats.org/officeDocument/2006/relationships/presProps" Target="/ppt/presProps.xml" Id="R6bb19ad6d92d40fe" /><Relationship Type="http://schemas.openxmlformats.org/officeDocument/2006/relationships/tableStyles" Target="/ppt/tableStyles.xml" Id="R36bc23ed73014a13" /><Relationship Type="http://schemas.openxmlformats.org/officeDocument/2006/relationships/slide" Target="/ppt/slides/slide1.xml" Id="Rda7dac7712584c7b" /><Relationship Type="http://schemas.openxmlformats.org/officeDocument/2006/relationships/slide" Target="/ppt/slides/slide2.xml" Id="Raf062aab518d4e52" /><Relationship Type="http://schemas.openxmlformats.org/officeDocument/2006/relationships/slide" Target="/ppt/slides/slide3.xml" Id="Rea0be4cbd80842ed" /><Relationship Type="http://schemas.openxmlformats.org/officeDocument/2006/relationships/slide" Target="/ppt/slides/slide4.xml" Id="Rf5c997924f1d4eff" /><Relationship Type="http://schemas.openxmlformats.org/officeDocument/2006/relationships/slide" Target="/ppt/slides/slide5.xml" Id="R06fa7455d6524ee8" /><Relationship Type="http://schemas.openxmlformats.org/officeDocument/2006/relationships/slide" Target="/ppt/slides/slide6.xml" Id="Re36a455c821b4445" /><Relationship Type="http://schemas.openxmlformats.org/officeDocument/2006/relationships/slide" Target="/ppt/slides/slide7.xml" Id="Rc789711af076445f" /><Relationship Type="http://schemas.openxmlformats.org/officeDocument/2006/relationships/slide" Target="/ppt/slides/slide8.xml" Id="R7caa1ee2d4b64d0f" /><Relationship Type="http://schemas.openxmlformats.org/officeDocument/2006/relationships/slide" Target="/ppt/slides/slide9.xml" Id="R84a5721fe183486e" /><Relationship Type="http://schemas.openxmlformats.org/officeDocument/2006/relationships/slide" Target="/ppt/slides/slide10.xml" Id="Rabaa7cfc4fc94e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4e73759b4b47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087b8e0c114241" /><Relationship Type="http://schemas.openxmlformats.org/officeDocument/2006/relationships/notesMaster" Target="/ppt/notesMasters/notesMaster1.xml" Id="Rdb40afe3783d4ab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a7588031c7a48b7" /><Relationship Type="http://schemas.openxmlformats.org/officeDocument/2006/relationships/notesMaster" Target="/ppt/notesMasters/notesMaster1.xml" Id="R1443de66049a40a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28db566e1ef4c51" /><Relationship Type="http://schemas.openxmlformats.org/officeDocument/2006/relationships/notesMaster" Target="/ppt/notesMasters/notesMaster1.xml" Id="Re2e506b7cf6744d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e0796581da04d0a" /><Relationship Type="http://schemas.openxmlformats.org/officeDocument/2006/relationships/notesMaster" Target="/ppt/notesMasters/notesMaster1.xml" Id="Rdacbf5740472444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bd28db7ca7843c3" /><Relationship Type="http://schemas.openxmlformats.org/officeDocument/2006/relationships/notesMaster" Target="/ppt/notesMasters/notesMaster1.xml" Id="R9ea74798a2f34a3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2dd0ec451d14fd1" /><Relationship Type="http://schemas.openxmlformats.org/officeDocument/2006/relationships/notesMaster" Target="/ppt/notesMasters/notesMaster1.xml" Id="R1e66faa92ba541b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cad7f7744c94280" /><Relationship Type="http://schemas.openxmlformats.org/officeDocument/2006/relationships/notesMaster" Target="/ppt/notesMasters/notesMaster1.xml" Id="Rb3ba84ace3dd4fe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22b20d3b2624037" /><Relationship Type="http://schemas.openxmlformats.org/officeDocument/2006/relationships/notesMaster" Target="/ppt/notesMasters/notesMaster1.xml" Id="R9c24169354414ab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c9f2c02515044fb" /><Relationship Type="http://schemas.openxmlformats.org/officeDocument/2006/relationships/notesMaster" Target="/ppt/notesMasters/notesMaster1.xml" Id="R271362bc3fda47c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f80aa8ac0ff4505" /><Relationship Type="http://schemas.openxmlformats.org/officeDocument/2006/relationships/notesMaster" Target="/ppt/notesMasters/notesMaster1.xml" Id="R0c75a955817b4c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7630095790476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78e5d275d7448c1" /><Relationship Type="http://schemas.openxmlformats.org/officeDocument/2006/relationships/slideLayout" Target="/ppt/slideLayouts/slideLayout1.xml" Id="R32ec146ce6234b8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ec146ce6234b8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faccb17fab4f9c" /><Relationship Type="http://schemas.openxmlformats.org/officeDocument/2006/relationships/notesSlide" Target="/ppt/notesSlides/notesSlide1.xml" Id="Rb3e716bc6cb5480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44c41ca25c4eaa" /><Relationship Type="http://schemas.openxmlformats.org/officeDocument/2006/relationships/chart" Target="/ppt/slides/charts/chart1.xml" Id="R3094b5697d794a71" /><Relationship Type="http://schemas.openxmlformats.org/officeDocument/2006/relationships/chart" Target="/ppt/slides/charts/chart2.xml" Id="Rb464d3fca16e4179" /><Relationship Type="http://schemas.openxmlformats.org/officeDocument/2006/relationships/notesSlide" Target="/ppt/notesSlides/notesSlide2.xml" Id="R1e3bd739f9b345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c16dd5e35740da" /><Relationship Type="http://schemas.openxmlformats.org/officeDocument/2006/relationships/chart" Target="/ppt/slides/charts/chart3.xml" Id="R6a17a8807bb84a99" /><Relationship Type="http://schemas.openxmlformats.org/officeDocument/2006/relationships/chart" Target="/ppt/slides/charts/chart4.xml" Id="Ra6162e07f7a84d80" /><Relationship Type="http://schemas.openxmlformats.org/officeDocument/2006/relationships/notesSlide" Target="/ppt/notesSlides/notesSlide3.xml" Id="R0f03df66b6c1411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2c8db1388e42e2" /><Relationship Type="http://schemas.openxmlformats.org/officeDocument/2006/relationships/chart" Target="/ppt/slides/charts/chart5.xml" Id="Rd7bd5c25e1374215" /><Relationship Type="http://schemas.openxmlformats.org/officeDocument/2006/relationships/notesSlide" Target="/ppt/notesSlides/notesSlide4.xml" Id="Red6df44e613649e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7e41c48ee74561" /><Relationship Type="http://schemas.openxmlformats.org/officeDocument/2006/relationships/chart" Target="/ppt/slides/charts/chart6.xml" Id="Rc0555717ff4b4aa4" /><Relationship Type="http://schemas.openxmlformats.org/officeDocument/2006/relationships/chart" Target="/ppt/slides/charts/chart7.xml" Id="R7a73cbd793c14585" /><Relationship Type="http://schemas.openxmlformats.org/officeDocument/2006/relationships/notesSlide" Target="/ppt/notesSlides/notesSlide5.xml" Id="R013d79b6b43b4a7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7137c77e524103" /><Relationship Type="http://schemas.openxmlformats.org/officeDocument/2006/relationships/chart" Target="/ppt/slides/charts/chart8.xml" Id="Rfaf5ac4fa4894f25" /><Relationship Type="http://schemas.openxmlformats.org/officeDocument/2006/relationships/chart" Target="/ppt/slides/charts/chart9.xml" Id="Rb2fd9776984f4b06" /><Relationship Type="http://schemas.openxmlformats.org/officeDocument/2006/relationships/notesSlide" Target="/ppt/notesSlides/notesSlide6.xml" Id="R7f0b58e37f314bf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d15e11a4394483" /><Relationship Type="http://schemas.openxmlformats.org/officeDocument/2006/relationships/chart" Target="/ppt/slides/charts/chart10.xml" Id="R05685f910f1748a8" /><Relationship Type="http://schemas.openxmlformats.org/officeDocument/2006/relationships/chart" Target="/ppt/slides/charts/chart11.xml" Id="R1ef861e1d7e34f52" /><Relationship Type="http://schemas.openxmlformats.org/officeDocument/2006/relationships/notesSlide" Target="/ppt/notesSlides/notesSlide7.xml" Id="R9de7ebe5732a4ee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a57dc68eec4333" /><Relationship Type="http://schemas.openxmlformats.org/officeDocument/2006/relationships/chart" Target="/ppt/slides/charts/chart12.xml" Id="R6861354aa0b04644" /><Relationship Type="http://schemas.openxmlformats.org/officeDocument/2006/relationships/chart" Target="/ppt/slides/charts/chart13.xml" Id="R8a3a648046c14ba7" /><Relationship Type="http://schemas.openxmlformats.org/officeDocument/2006/relationships/notesSlide" Target="/ppt/notesSlides/notesSlide8.xml" Id="R5f702f7386c44cc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0770b8ac964183" /><Relationship Type="http://schemas.openxmlformats.org/officeDocument/2006/relationships/notesSlide" Target="/ppt/notesSlides/notesSlide9.xml" Id="Rc6bd794799af467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968c7587744d8a" /><Relationship Type="http://schemas.openxmlformats.org/officeDocument/2006/relationships/notesSlide" Target="/ppt/notesSlides/notesSlide10.xml" Id="R2a1db680f0bc4b79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lineChart>
        <c:grouping val="standard"/>
        <c:ser>
          <c:idx val="0"/>
          <c:order val="0"/>
          <c:tx>
            <c:v>‏روند نرخ موفقیت ماهانه</c:v>
          </c:tx>
          <c:spPr>
            <a:ln xmlns:a="http://schemas.openxmlformats.org/drawingml/2006/main" w="38100">
              <a:solidFill>
                <a:srgbClr val="00A6A6"/>
              </a:solidFill>
              <a:prstDash val="solid"/>
            </a:ln>
          </c:spPr>
          <c:marker>
            <c:symbol val="circle"/>
            <c:size val="8"/>
          </c:marke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‏فروردین</c:v>
              </c:pt>
              <c:pt idx="1">
                <c:v>‏اردیبهشت</c:v>
              </c:pt>
              <c:pt idx="2">
                <c:v>‏خرداد</c:v>
              </c:pt>
            </c:strLit>
          </c:cat>
          <c:val>
            <c:numLit>
              <c:formatCode>0"%"</c:formatCode>
              <c:ptCount val="3"/>
              <c:pt idx="0">
                <c:v>45.28301886792453</c:v>
              </c:pt>
              <c:pt idx="1">
                <c:v>52.38095238095239</c:v>
              </c:pt>
              <c:pt idx="2">
                <c:v>40.909090909090914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7324D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0738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1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1E8"/>
              </a:solidFill>
              <a:prstDash val="solid"/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07386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7E1E8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roundedCorners val="0"/>
  <c:chart>
    <c:plotArea>
      <c:layout/>
      <c:doughnutChart>
        <c:ser>
          <c:idx val="0"/>
          <c:order val="0"/>
          <c:tx>
            <c:v>‏ترکیب نتایج</c:v>
          </c:tx>
          <c:dPt>
            <c:idx val="0"/>
            <c:spPr>
              <a:solidFill xmlns:a="http://schemas.openxmlformats.org/drawingml/2006/main">
                <a:srgbClr val="2E8B57"/>
              </a:solidFill>
            </c:spPr>
          </c:dPt>
          <c:dPt>
            <c:idx val="1"/>
            <c:spPr>
              <a:solidFill xmlns:a="http://schemas.openxmlformats.org/drawingml/2006/main">
                <a:srgbClr val="C64B4B"/>
              </a:solidFill>
            </c:spPr>
          </c:dPt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2"/>
              <c:pt idx="0">
                <c:v>‏موفق</c:v>
              </c:pt>
              <c:pt idx="1">
                <c:v>‏ناموفق</c:v>
              </c:pt>
            </c:strLit>
          </c:cat>
          <c:val>
            <c:numLit>
              <c:formatCode>General</c:formatCode>
              <c:ptCount val="2"/>
              <c:pt idx="0">
                <c:v>64</c:v>
              </c:pt>
              <c:pt idx="1">
                <c:v>75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7324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1"/>
          <c:showBubbleSize val="0"/>
          <c:showLeaderLines val="0"/>
        </c:dLbls>
        <c:holeSize val="58"/>
      </c:doughnutChart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17324D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7E1E8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roundedCorners val="0"/>
  <c:chart>
    <c:plotArea>
      <c:layout/>
      <c:doughnutChart>
        <c:ser>
          <c:idx val="0"/>
          <c:order val="0"/>
          <c:tx>
            <c:v>‏نتیجه احیا</c:v>
          </c:tx>
          <c:dPt>
            <c:idx val="0"/>
            <c:spPr>
              <a:solidFill xmlns:a="http://schemas.openxmlformats.org/drawingml/2006/main">
                <a:srgbClr val="2E8B57"/>
              </a:solidFill>
            </c:spPr>
          </c:dPt>
          <c:dPt>
            <c:idx val="1"/>
            <c:spPr>
              <a:solidFill xmlns:a="http://schemas.openxmlformats.org/drawingml/2006/main">
                <a:srgbClr val="C64B4B"/>
              </a:solidFill>
            </c:spPr>
          </c:dPt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2"/>
              <c:pt idx="0">
                <c:v>‏موفق</c:v>
              </c:pt>
              <c:pt idx="1">
                <c:v>‏ناموفق</c:v>
              </c:pt>
            </c:strLit>
          </c:cat>
          <c:val>
            <c:numLit>
              <c:formatCode>General</c:formatCode>
              <c:ptCount val="2"/>
              <c:pt idx="0">
                <c:v>64</c:v>
              </c:pt>
              <c:pt idx="1">
                <c:v>75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7324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1"/>
          <c:showBubbleSize val="0"/>
          <c:showLeaderLines val="0"/>
        </c:dLbls>
        <c:holeSize val="58"/>
      </c:doughnutChart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17324D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7E1E8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v>‏تعداد رویدادهای ماهانه</c:v>
          </c:tx>
          <c:spPr>
            <a:solidFill xmlns:a="http://schemas.openxmlformats.org/drawingml/2006/main">
              <a:srgbClr val="176B87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‏فروردین</c:v>
              </c:pt>
              <c:pt idx="1">
                <c:v>‏اردیبهشت</c:v>
              </c:pt>
              <c:pt idx="2">
                <c:v>‏خرداد</c:v>
              </c:pt>
            </c:strLit>
          </c:cat>
          <c:val>
            <c:numLit>
              <c:formatCode>0</c:formatCode>
              <c:ptCount val="3"/>
              <c:pt idx="0">
                <c:v>53</c:v>
              </c:pt>
              <c:pt idx="1">
                <c:v>42</c:v>
              </c:pt>
              <c:pt idx="2">
                <c:v>44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7324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0738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1E8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07386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7E1E8"/>
      </a:solidFill>
      <a:prstDash val="solid"/>
    </a:ln>
  </c:spPr>
</c:chartSpace>
</file>

<file path=ppt/slides/charts/chart5.xml><?xml version="1.0" encoding="utf-8"?>
<c:chartSpace xmlns:c="http://schemas.openxmlformats.org/drawingml/2006/chart">
  <c:lang val="en-US"/>
  <c:roundedCorners val="0"/>
  <c:chart>
    <c:plotArea>
      <c:layout/>
      <c:lineChart>
        <c:grouping val="standard"/>
        <c:ser>
          <c:idx val="0"/>
          <c:order val="0"/>
          <c:tx>
            <c:v>‏نرخ موفقیت ماهانه</c:v>
          </c:tx>
          <c:spPr>
            <a:ln xmlns:a="http://schemas.openxmlformats.org/drawingml/2006/main" w="38100">
              <a:solidFill>
                <a:srgbClr val="00A6A6"/>
              </a:solidFill>
              <a:prstDash val="solid"/>
            </a:ln>
          </c:spPr>
          <c:marker>
            <c:symbol val="circle"/>
            <c:size val="8"/>
          </c:marke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‏فروردین</c:v>
              </c:pt>
              <c:pt idx="1">
                <c:v>‏اردیبهشت</c:v>
              </c:pt>
              <c:pt idx="2">
                <c:v>‏خرداد</c:v>
              </c:pt>
            </c:strLit>
          </c:cat>
          <c:val>
            <c:numLit>
              <c:formatCode>0"%"</c:formatCode>
              <c:ptCount val="3"/>
              <c:pt idx="0">
                <c:v>45.28301886792453</c:v>
              </c:pt>
              <c:pt idx="1">
                <c:v>52.38095238095239</c:v>
              </c:pt>
              <c:pt idx="2">
                <c:v>40.909090909090914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7324D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0738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1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1E8"/>
              </a:solidFill>
              <a:prstDash val="solid"/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07386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7E1E8"/>
      </a:solidFill>
      <a:prstDash val="solid"/>
    </a:ln>
  </c:spPr>
</c:chartSpace>
</file>

<file path=ppt/slides/charts/chart6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v>‏توزیع گروه‌های سنی</c:v>
          </c:tx>
          <c:spPr>
            <a:solidFill xmlns:a="http://schemas.openxmlformats.org/drawingml/2006/main">
              <a:srgbClr val="176B87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6"/>
              <c:pt idx="0">
                <c:v>‏نوزاد</c:v>
              </c:pt>
              <c:pt idx="1">
                <c:v>‏کودک</c:v>
              </c:pt>
              <c:pt idx="2">
                <c:v>‏جوان</c:v>
              </c:pt>
              <c:pt idx="3">
                <c:v>‏میانسال</c:v>
              </c:pt>
              <c:pt idx="4">
                <c:v>‏سالمند</c:v>
              </c:pt>
              <c:pt idx="5">
                <c:v>‏کهنسال</c:v>
              </c:pt>
            </c:strLit>
          </c:cat>
          <c:val>
            <c:numLit>
              <c:formatCode>0</c:formatCode>
              <c:ptCount val="6"/>
              <c:pt idx="0">
                <c:v>6</c:v>
              </c:pt>
              <c:pt idx="1">
                <c:v>2</c:v>
              </c:pt>
              <c:pt idx="2">
                <c:v>9</c:v>
              </c:pt>
              <c:pt idx="3">
                <c:v>23</c:v>
              </c:pt>
              <c:pt idx="4">
                <c:v>72</c:v>
              </c:pt>
              <c:pt idx="5">
                <c:v>27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7324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0738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1E8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07386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7E1E8"/>
      </a:solidFill>
      <a:prstDash val="solid"/>
    </a:ln>
  </c:spPr>
</c:chartSpace>
</file>

<file path=ppt/slides/charts/chart7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v>‏نرخ موفقیت گروه‌های سنی</c:v>
          </c:tx>
          <c:spPr>
            <a:solidFill xmlns:a="http://schemas.openxmlformats.org/drawingml/2006/main">
              <a:srgbClr val="00A6A6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6"/>
              <c:pt idx="0">
                <c:v>‏نوزاد</c:v>
              </c:pt>
              <c:pt idx="1">
                <c:v>‏کودک</c:v>
              </c:pt>
              <c:pt idx="2">
                <c:v>‏جوان</c:v>
              </c:pt>
              <c:pt idx="3">
                <c:v>‏میانسال</c:v>
              </c:pt>
              <c:pt idx="4">
                <c:v>‏سالمند</c:v>
              </c:pt>
              <c:pt idx="5">
                <c:v>‏کهنسال</c:v>
              </c:pt>
            </c:strLit>
          </c:cat>
          <c:val>
            <c:numLit>
              <c:formatCode>0"%"</c:formatCode>
              <c:ptCount val="6"/>
              <c:pt idx="0">
                <c:v>66.66666666666666</c:v>
              </c:pt>
              <c:pt idx="1">
                <c:v>50</c:v>
              </c:pt>
              <c:pt idx="2">
                <c:v>44.44444444444444</c:v>
              </c:pt>
              <c:pt idx="3">
                <c:v>43.47826086956522</c:v>
              </c:pt>
              <c:pt idx="4">
                <c:v>44.44444444444444</c:v>
              </c:pt>
              <c:pt idx="5">
                <c:v>48.148148148148145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7324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0738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1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1E8"/>
              </a:solidFill>
              <a:prstDash val="solid"/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07386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7E1E8"/>
      </a:solidFill>
      <a:prstDash val="solid"/>
    </a:ln>
  </c:spPr>
</c:chartSpace>
</file>

<file path=ppt/slides/charts/chart8.xml><?xml version="1.0" encoding="utf-8"?>
<c:chartSpace xmlns:c="http://schemas.openxmlformats.org/drawingml/2006/chart">
  <c:lang val="en-US"/>
  <c:roundedCorners val="0"/>
  <c:chart>
    <c:plotArea>
      <c:layout/>
      <c:barChart>
        <c:barDir val="bar"/>
        <c:grouping val="clustered"/>
        <c:varyColors val="0"/>
        <c:ser>
          <c:idx val="0"/>
          <c:order val="0"/>
          <c:tx>
            <c:v>‏فراوانی CPR در بخش‌ها</c:v>
          </c:tx>
          <c:spPr>
            <a:solidFill xmlns:a="http://schemas.openxmlformats.org/drawingml/2006/main">
              <a:srgbClr val="176B87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17"/>
              <c:pt idx="0">
                <c:v>‏اکو تخصصی</c:v>
              </c:pt>
              <c:pt idx="1">
                <c:v>‏جراحی</c:v>
              </c:pt>
              <c:pt idx="2">
                <c:v>‏زنان</c:v>
              </c:pt>
              <c:pt idx="3">
                <c:v>‏مردان A</c:v>
              </c:pt>
              <c:pt idx="4">
                <c:v>‏NICU</c:v>
              </c:pt>
              <c:pt idx="5">
                <c:v>‏اطفال</c:v>
              </c:pt>
              <c:pt idx="6">
                <c:v>‏مردان C</c:v>
              </c:pt>
              <c:pt idx="7">
                <c:v>‏پست آنژیو</c:v>
              </c:pt>
              <c:pt idx="8">
                <c:v>‏CCU ویژه</c:v>
              </c:pt>
              <c:pt idx="9">
                <c:v>‏ICUA</c:v>
              </c:pt>
              <c:pt idx="10">
                <c:v>‏CCU</c:v>
              </c:pt>
              <c:pt idx="11">
                <c:v>‏PICU</c:v>
              </c:pt>
              <c:pt idx="12">
                <c:v>‏دیالیز</c:v>
              </c:pt>
              <c:pt idx="13">
                <c:v>‏ICUB</c:v>
              </c:pt>
              <c:pt idx="14">
                <c:v>‏آنژیوگرافی</c:v>
              </c:pt>
              <c:pt idx="15">
                <c:v>‏اورژانس</c:v>
              </c:pt>
              <c:pt idx="16">
                <c:v>‏CICU</c:v>
              </c:pt>
            </c:strLit>
          </c:cat>
          <c:val>
            <c:numLit>
              <c:formatCode>General</c:formatCode>
              <c:ptCount val="17"/>
              <c:pt idx="0">
                <c:v>1</c:v>
              </c:pt>
              <c:pt idx="1">
                <c:v>1</c:v>
              </c:pt>
              <c:pt idx="2">
                <c:v>1</c:v>
              </c:pt>
              <c:pt idx="3">
                <c:v>1</c:v>
              </c:pt>
              <c:pt idx="4">
                <c:v>2</c:v>
              </c:pt>
              <c:pt idx="5">
                <c:v>2</c:v>
              </c:pt>
              <c:pt idx="6">
                <c:v>3</c:v>
              </c:pt>
              <c:pt idx="7">
                <c:v>3</c:v>
              </c:pt>
              <c:pt idx="8">
                <c:v>5</c:v>
              </c:pt>
              <c:pt idx="9">
                <c:v>5</c:v>
              </c:pt>
              <c:pt idx="10">
                <c:v>6</c:v>
              </c:pt>
              <c:pt idx="11">
                <c:v>6</c:v>
              </c:pt>
              <c:pt idx="12">
                <c:v>6</c:v>
              </c:pt>
              <c:pt idx="13">
                <c:v>14</c:v>
              </c:pt>
              <c:pt idx="14">
                <c:v>16</c:v>
              </c:pt>
              <c:pt idx="15">
                <c:v>16</c:v>
              </c:pt>
              <c:pt idx="16">
                <c:v>51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7324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1E8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0738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17324D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7E1E8"/>
      </a:solidFill>
      <a:prstDash val="solid"/>
    </a:ln>
  </c:spPr>
</c:chartSpace>
</file>

<file path=ppt/slides/charts/chart9.xml><?xml version="1.0" encoding="utf-8"?>
<c:chartSpace xmlns:c="http://schemas.openxmlformats.org/drawingml/2006/chart">
  <c:lang val="en-US"/>
  <c:roundedCorners val="0"/>
  <c:chart>
    <c:plotArea>
      <c:layout/>
      <c:barChart>
        <c:barDir val="bar"/>
        <c:grouping val="clustered"/>
        <c:varyColors val="0"/>
        <c:ser>
          <c:idx val="0"/>
          <c:order val="0"/>
          <c:tx>
            <c:v>‏نرخ موفقیت بخش‌ها</c:v>
          </c:tx>
          <c:spPr>
            <a:solidFill xmlns:a="http://schemas.openxmlformats.org/drawingml/2006/main">
              <a:srgbClr val="00A6A6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17"/>
              <c:pt idx="0">
                <c:v>‏مردان A</c:v>
              </c:pt>
              <c:pt idx="1">
                <c:v>‏CICU</c:v>
              </c:pt>
              <c:pt idx="2">
                <c:v>‏ICUB</c:v>
              </c:pt>
              <c:pt idx="3">
                <c:v>‏PICU</c:v>
              </c:pt>
              <c:pt idx="4">
                <c:v>‏ICUA</c:v>
              </c:pt>
              <c:pt idx="5">
                <c:v>‏CCU</c:v>
              </c:pt>
              <c:pt idx="6">
                <c:v>‏دیالیز</c:v>
              </c:pt>
              <c:pt idx="7">
                <c:v>‏اورژانس</c:v>
              </c:pt>
              <c:pt idx="8">
                <c:v>‏آنژیوگرافی</c:v>
              </c:pt>
              <c:pt idx="9">
                <c:v>‏مردان C</c:v>
              </c:pt>
              <c:pt idx="10">
                <c:v>‏CCU ویژه</c:v>
              </c:pt>
              <c:pt idx="11">
                <c:v>‏NICU</c:v>
              </c:pt>
              <c:pt idx="12">
                <c:v>‏اطفال</c:v>
              </c:pt>
              <c:pt idx="13">
                <c:v>‏اکو تخصصی</c:v>
              </c:pt>
              <c:pt idx="14">
                <c:v>‏جراحی</c:v>
              </c:pt>
              <c:pt idx="15">
                <c:v>‏زنان</c:v>
              </c:pt>
              <c:pt idx="16">
                <c:v>‏پست آنژیو</c:v>
              </c:pt>
            </c:strLit>
          </c:cat>
          <c:val>
            <c:numLit>
              <c:formatCode>General</c:formatCode>
              <c:ptCount val="17"/>
              <c:pt idx="0">
                <c:v>0</c:v>
              </c:pt>
              <c:pt idx="1">
                <c:v>27.450980392156865</c:v>
              </c:pt>
              <c:pt idx="2">
                <c:v>28.57142857142857</c:v>
              </c:pt>
              <c:pt idx="3">
                <c:v>33.33333333333333</c:v>
              </c:pt>
              <c:pt idx="4">
                <c:v>40</c:v>
              </c:pt>
              <c:pt idx="5">
                <c:v>50</c:v>
              </c:pt>
              <c:pt idx="6">
                <c:v>50</c:v>
              </c:pt>
              <c:pt idx="7">
                <c:v>56.25</c:v>
              </c:pt>
              <c:pt idx="8">
                <c:v>62.5</c:v>
              </c:pt>
              <c:pt idx="9">
                <c:v>66.66666666666666</c:v>
              </c:pt>
              <c:pt idx="10">
                <c:v>100</c:v>
              </c:pt>
              <c:pt idx="11">
                <c:v>100</c:v>
              </c:pt>
              <c:pt idx="12">
                <c:v>100</c:v>
              </c:pt>
              <c:pt idx="13">
                <c:v>100</c:v>
              </c:pt>
              <c:pt idx="14">
                <c:v>100</c:v>
              </c:pt>
              <c:pt idx="15">
                <c:v>100</c:v>
              </c:pt>
              <c:pt idx="16">
                <c:v>100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7324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1E8"/>
              </a:solidFill>
              <a:prstDash val="solid"/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0738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17324D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7E1E8"/>
      </a:solidFill>
      <a:prstDash val="solid"/>
    </a:ln>
  </c:spPr>
</c:chartSpace>
</file>

<file path=ppt/slides/charts/chart10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v>‏فراوانی CPR در شیفت‌ها</c:v>
          </c:tx>
          <c:spPr>
            <a:solidFill xmlns:a="http://schemas.openxmlformats.org/drawingml/2006/main">
              <a:srgbClr val="176B87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‏شب</c:v>
              </c:pt>
              <c:pt idx="1">
                <c:v>‏صبح</c:v>
              </c:pt>
              <c:pt idx="2">
                <c:v>‏عصر</c:v>
              </c:pt>
            </c:strLit>
          </c:cat>
          <c:val>
            <c:numLit>
              <c:formatCode>0</c:formatCode>
              <c:ptCount val="3"/>
              <c:pt idx="0">
                <c:v>60</c:v>
              </c:pt>
              <c:pt idx="1">
                <c:v>44</c:v>
              </c:pt>
              <c:pt idx="2">
                <c:v>35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7324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0738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1E8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07386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7E1E8"/>
      </a:solidFill>
      <a:prstDash val="solid"/>
    </a:ln>
  </c:spPr>
</c:chartSpace>
</file>

<file path=ppt/slides/charts/chart1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v>‏نرخ موفقیت شیفت‌ها</c:v>
          </c:tx>
          <c:spPr>
            <a:solidFill xmlns:a="http://schemas.openxmlformats.org/drawingml/2006/main">
              <a:srgbClr val="00A6A6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‏شب</c:v>
              </c:pt>
              <c:pt idx="1">
                <c:v>‏صبح</c:v>
              </c:pt>
              <c:pt idx="2">
                <c:v>‏عصر</c:v>
              </c:pt>
            </c:strLit>
          </c:cat>
          <c:val>
            <c:numLit>
              <c:formatCode>0"%"</c:formatCode>
              <c:ptCount val="3"/>
              <c:pt idx="0">
                <c:v>43.333333333333336</c:v>
              </c:pt>
              <c:pt idx="1">
                <c:v>59.09090909090909</c:v>
              </c:pt>
              <c:pt idx="2">
                <c:v>34.285714285714285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7324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0738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1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1E8"/>
              </a:solidFill>
              <a:prstDash val="solid"/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07386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7E1E8"/>
      </a:solidFill>
      <a:prstDash val="solid"/>
    </a:ln>
  </c:spPr>
</c:chartSpace>
</file>

<file path=ppt/slides/charts/chart12.xml><?xml version="1.0" encoding="utf-8"?>
<c:chartSpace xmlns:c="http://schemas.openxmlformats.org/drawingml/2006/chart">
  <c:lang val="en-US"/>
  <c:roundedCorners val="0"/>
  <c:chart>
    <c:plotArea>
      <c:layout/>
      <c:barChart>
        <c:barDir val="bar"/>
        <c:grouping val="clustered"/>
        <c:varyColors val="0"/>
        <c:ser>
          <c:idx val="0"/>
          <c:order val="0"/>
          <c:tx>
            <c:v>‏فراوانی حضور سوپروایزرها</c:v>
          </c:tx>
          <c:spPr>
            <a:solidFill xmlns:a="http://schemas.openxmlformats.org/drawingml/2006/main">
              <a:srgbClr val="176B87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8"/>
              <c:pt idx="0">
                <c:v>‏آقای زارعی</c:v>
              </c:pt>
              <c:pt idx="1">
                <c:v>‏خانم مرادی</c:v>
              </c:pt>
              <c:pt idx="2">
                <c:v>‏آقای امینی</c:v>
              </c:pt>
              <c:pt idx="3">
                <c:v>‏خانم سیف پور</c:v>
              </c:pt>
              <c:pt idx="4">
                <c:v>‏آقای حاجی علی</c:v>
              </c:pt>
              <c:pt idx="5">
                <c:v>‏خانم فانیان</c:v>
              </c:pt>
              <c:pt idx="6">
                <c:v>‏خانم رضائی</c:v>
              </c:pt>
              <c:pt idx="7">
                <c:v>‏خانم گشول</c:v>
              </c:pt>
            </c:strLit>
          </c:cat>
          <c:val>
            <c:numLit>
              <c:formatCode>General</c:formatCode>
              <c:ptCount val="8"/>
              <c:pt idx="0">
                <c:v>3</c:v>
              </c:pt>
              <c:pt idx="1">
                <c:v>11</c:v>
              </c:pt>
              <c:pt idx="2">
                <c:v>14</c:v>
              </c:pt>
              <c:pt idx="3">
                <c:v>14</c:v>
              </c:pt>
              <c:pt idx="4">
                <c:v>20</c:v>
              </c:pt>
              <c:pt idx="5">
                <c:v>21</c:v>
              </c:pt>
              <c:pt idx="6">
                <c:v>27</c:v>
              </c:pt>
              <c:pt idx="7">
                <c:v>29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7324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1E8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0738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7324D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7E1E8"/>
      </a:solidFill>
      <a:prstDash val="solid"/>
    </a:ln>
  </c:spPr>
</c:chartSpace>
</file>

<file path=ppt/slides/charts/chart13.xml><?xml version="1.0" encoding="utf-8"?>
<c:chartSpace xmlns:c="http://schemas.openxmlformats.org/drawingml/2006/chart">
  <c:lang val="en-US"/>
  <c:roundedCorners val="0"/>
  <c:chart>
    <c:plotArea>
      <c:layout/>
      <c:barChart>
        <c:barDir val="bar"/>
        <c:grouping val="clustered"/>
        <c:varyColors val="0"/>
        <c:ser>
          <c:idx val="0"/>
          <c:order val="0"/>
          <c:tx>
            <c:v>‏نرخ موفقیت سوپروایزرها</c:v>
          </c:tx>
          <c:spPr>
            <a:solidFill xmlns:a="http://schemas.openxmlformats.org/drawingml/2006/main">
              <a:srgbClr val="00A6A6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8"/>
              <c:pt idx="0">
                <c:v>‏آقای امینی</c:v>
              </c:pt>
              <c:pt idx="1">
                <c:v>‏خانم سیف پور</c:v>
              </c:pt>
              <c:pt idx="2">
                <c:v>‏خانم فانیان</c:v>
              </c:pt>
              <c:pt idx="3">
                <c:v>‏آقای حاجی علی</c:v>
              </c:pt>
              <c:pt idx="4">
                <c:v>‏خانم مرادی</c:v>
              </c:pt>
              <c:pt idx="5">
                <c:v>‏خانم گشول</c:v>
              </c:pt>
              <c:pt idx="6">
                <c:v>‏آقای زارعی</c:v>
              </c:pt>
              <c:pt idx="7">
                <c:v>‏خانم رضائی</c:v>
              </c:pt>
            </c:strLit>
          </c:cat>
          <c:val>
            <c:numLit>
              <c:formatCode>General</c:formatCode>
              <c:ptCount val="8"/>
              <c:pt idx="0">
                <c:v>21.428571428571427</c:v>
              </c:pt>
              <c:pt idx="1">
                <c:v>28.57142857142857</c:v>
              </c:pt>
              <c:pt idx="2">
                <c:v>38.095238095238095</c:v>
              </c:pt>
              <c:pt idx="3">
                <c:v>45</c:v>
              </c:pt>
              <c:pt idx="4">
                <c:v>45.45454545454545</c:v>
              </c:pt>
              <c:pt idx="5">
                <c:v>48.275862068965516</c:v>
              </c:pt>
              <c:pt idx="6">
                <c:v>66.66666666666666</c:v>
              </c:pt>
              <c:pt idx="7">
                <c:v>70.37037037037037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7324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1E8"/>
              </a:solidFill>
              <a:prstDash val="solid"/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0738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7324D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7E1E8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0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A6A3EE14-5482-418F-B701-19DCCC6F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2" name="hospital">
            <a:extLst xmlns:a="http://schemas.openxmlformats.org/drawingml/2006/main">
              <a:ext uri="{FF2B5EF4-FFF2-40B4-BE49-F238E27FC236}">
                <a16:creationId xmlns:a16="http://schemas.microsoft.com/office/drawing/2014/main" id="{DCA867DB-A727-431B-89CE-0BB51694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85800"/>
            <a:ext cx="571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B9D3DF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B9D3DF"/>
                </a:solidFill>
                <a:latin typeface="Tahoma"/>
                <a:ea typeface="Tahoma"/>
                <a:cs typeface="Tahoma"/>
              </a:rPr>
              <a:t>‏بیمارستان قلب شهید چمران اصفهان</a:t>
            </a:r>
          </a:p>
        </p:txBody>
      </p:sp>
      <p:sp>
        <p:nvSpPr>
          <p:cNvPr id="3" name="main-title">
            <a:extLst xmlns:a="http://schemas.openxmlformats.org/drawingml/2006/main">
              <a:ext uri="{FF2B5EF4-FFF2-40B4-BE49-F238E27FC236}">
                <a16:creationId xmlns:a16="http://schemas.microsoft.com/office/drawing/2014/main" id="{AF48A572-B37B-4F3A-AAB6-FFB2C9C15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952625"/>
            <a:ext cx="847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88526"/>
          </a:bodyPr>
          <a:lstStyle xmlns:a="http://schemas.openxmlformats.org/drawingml/2006/main"/>
          <a:p xmlns:a="http://schemas.openxmlformats.org/drawingml/2006/main">
            <a:pPr algn="r">
              <a:defRPr sz="48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48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‏گزارش عملکرد احیای قلبی ریوی</a:t>
            </a:r>
          </a:p>
        </p:txBody>
      </p:sp>
      <p:sp>
        <p:nvSpPr>
          <p:cNvPr id="4" name="cpr-title">
            <a:extLst xmlns:a="http://schemas.openxmlformats.org/drawingml/2006/main">
              <a:ext uri="{FF2B5EF4-FFF2-40B4-BE49-F238E27FC236}">
                <a16:creationId xmlns:a16="http://schemas.microsoft.com/office/drawing/2014/main" id="{0214C34F-17E3-4BF2-9F11-AC1A32AC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00A6A6"/>
                </a:solidFill>
                <a:latin typeface="Tahoma"/>
                <a:ea typeface="Tahoma"/>
                <a:cs typeface="Tahoma"/>
              </a:defRPr>
            </a:pPr>
            <a:r>
              <a:rPr sz="4950" b="1">
                <a:solidFill>
                  <a:srgbClr val="00A6A6"/>
                </a:solidFill>
                <a:latin typeface="Tahoma"/>
                <a:ea typeface="Tahoma"/>
                <a:cs typeface="Tahoma"/>
              </a:rPr>
              <a:t>‏CPR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F4AF66F7-5BE9-4E05-992F-C48AB277D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9925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566C"/>
          </a:solidFill>
          <a:ln xmlns:a="http://schemas.openxmlformats.org/drawingml/2006/main" w="0">
            <a:solidFill>
              <a:srgbClr val="3A566C"/>
            </a:solidFill>
            <a:prstDash val="solid"/>
          </a:ln>
        </p:spPr>
      </p:sp>
      <p:sp>
        <p:nvSpPr>
          <p:cNvPr id="6" name="period">
            <a:extLst xmlns:a="http://schemas.openxmlformats.org/drawingml/2006/main">
              <a:ext uri="{FF2B5EF4-FFF2-40B4-BE49-F238E27FC236}">
                <a16:creationId xmlns:a16="http://schemas.microsoft.com/office/drawing/2014/main" id="{27A68CBB-5F68-43E3-9246-B4F935AF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76625"/>
            <a:ext cx="457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‏سه ماهه اول سال 1405</a:t>
            </a:r>
          </a:p>
        </p:txBody>
      </p:sp>
      <p:sp>
        <p:nvSpPr>
          <p:cNvPr id="7" name="author">
            <a:extLst xmlns:a="http://schemas.openxmlformats.org/drawingml/2006/main">
              <a:ext uri="{FF2B5EF4-FFF2-40B4-BE49-F238E27FC236}">
                <a16:creationId xmlns:a16="http://schemas.microsoft.com/office/drawing/2014/main" id="{3B6C4524-C8DD-483B-960A-654C2099D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9D3DF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B9D3DF"/>
                </a:solidFill>
                <a:latin typeface="Tahoma"/>
                <a:ea typeface="Tahoma"/>
                <a:cs typeface="Tahoma"/>
              </a:rPr>
              <a:t>‏تهیه‌کننده: کمیته CPR</a:t>
            </a:r>
          </a:p>
        </p:txBody>
      </p:sp>
      <p:sp>
        <p:nvSpPr>
          <p:cNvPr id="8" name="event-count">
            <a:extLst xmlns:a="http://schemas.openxmlformats.org/drawingml/2006/main">
              <a:ext uri="{FF2B5EF4-FFF2-40B4-BE49-F238E27FC236}">
                <a16:creationId xmlns:a16="http://schemas.microsoft.com/office/drawing/2014/main" id="{C12CF750-D01C-467C-BFA5-C98C06FD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619750"/>
            <a:ext cx="319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B9D3DF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B9D3DF"/>
                </a:solidFill>
                <a:latin typeface="Tahoma"/>
                <a:ea typeface="Tahoma"/>
                <a:cs typeface="Tahoma"/>
              </a:rPr>
              <a:t>‏139 رویداد معتبر</a:t>
            </a:r>
          </a:p>
        </p:txBody>
      </p:sp>
    </p:spTree>
    <p:extLst>
      <p:ext uri="{BB962C8B-B14F-4D97-AF65-F5344CB8AC3E}">
        <p14:creationId xmlns:p14="http://schemas.microsoft.com/office/powerpoint/2010/main" val="19561991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rule">
            <a:extLst xmlns:a="http://schemas.openxmlformats.org/drawingml/2006/main">
              <a:ext uri="{FF2B5EF4-FFF2-40B4-BE49-F238E27FC236}">
                <a16:creationId xmlns:a16="http://schemas.microsoft.com/office/drawing/2014/main" id="{79E23061-4B6D-45E8-8A22-5120B30ED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F2102D3-3393-4F4C-AE4B-0DB635EBA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23850"/>
            <a:ext cx="598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defRPr sz="337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‏داشبورد مدیریتی</a:t>
            </a:r>
          </a:p>
        </p:txBody>
      </p:sp>
      <p:sp>
        <p:nvSpPr>
          <p:cNvPr id="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BD03CCA-53B8-4478-AC23-4F1675D1D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‏گزارش مدیریت CPR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8274186-32DC-4C27-B4A1-6C7192FA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8"/>
          </a:solidFill>
          <a:ln xmlns:a="http://schemas.openxmlformats.org/drawingml/2006/main" w="0">
            <a:solidFill>
              <a:srgbClr val="D7E1E8"/>
            </a:solidFill>
            <a:prstDash val="solid"/>
          </a:ln>
        </p:spPr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4B1FB13-20EC-4413-9AB7-1D40B5A01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‏2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649A13DC-9262-41D7-816A-9FDC6E2CC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15100"/>
            <a:ext cx="483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‏بیمارستان قلب شهید چمران اصفهان | سه ماهه اول ۱۴۰۵</a:t>
            </a:r>
          </a:p>
        </p:txBody>
      </p:sp>
      <p:sp>
        <p:nvSpPr>
          <p:cNvPr id="7" name="کل رویدادها-card">
            <a:extLst xmlns:a="http://schemas.openxmlformats.org/drawingml/2006/main">
              <a:ext uri="{FF2B5EF4-FFF2-40B4-BE49-F238E27FC236}">
                <a16:creationId xmlns:a16="http://schemas.microsoft.com/office/drawing/2014/main" id="{4183ACE4-F270-4C89-9A58-5F6724C0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241935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4F8FA"/>
          </a:solidFill>
          <a:ln xmlns:a="http://schemas.openxmlformats.org/drawingml/2006/main" w="0">
            <a:solidFill>
              <a:srgbClr val="F4F8FA"/>
            </a:solidFill>
            <a:prstDash val="solid"/>
          </a:ln>
        </p:spPr>
      </p:sp>
      <p:sp>
        <p:nvSpPr>
          <p:cNvPr id="8" name="کل رویدادها-accent">
            <a:extLst xmlns:a="http://schemas.openxmlformats.org/drawingml/2006/main">
              <a:ext uri="{FF2B5EF4-FFF2-40B4-BE49-F238E27FC236}">
                <a16:creationId xmlns:a16="http://schemas.microsoft.com/office/drawing/2014/main" id="{9A051019-C5D3-4CAA-BFE1-C0D49110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10287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0">
            <a:solidFill>
              <a:srgbClr val="12304A"/>
            </a:solidFill>
            <a:prstDash val="solid"/>
          </a:ln>
        </p:spPr>
      </p:sp>
      <p:sp>
        <p:nvSpPr>
          <p:cNvPr id="9" name="کل رویدادها-label">
            <a:extLst xmlns:a="http://schemas.openxmlformats.org/drawingml/2006/main">
              <a:ext uri="{FF2B5EF4-FFF2-40B4-BE49-F238E27FC236}">
                <a16:creationId xmlns:a16="http://schemas.microsoft.com/office/drawing/2014/main" id="{D864A2A1-5B4E-4084-8D9A-84FD43CF7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16205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‏کل رویدادها</a:t>
            </a:r>
          </a:p>
        </p:txBody>
      </p:sp>
      <p:sp>
        <p:nvSpPr>
          <p:cNvPr id="10" name="کل رویدادها-value">
            <a:extLst xmlns:a="http://schemas.openxmlformats.org/drawingml/2006/main">
              <a:ext uri="{FF2B5EF4-FFF2-40B4-BE49-F238E27FC236}">
                <a16:creationId xmlns:a16="http://schemas.microsoft.com/office/drawing/2014/main" id="{BCE6B034-F931-4502-9ED2-4073DD771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defRPr sz="262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262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‏139</a:t>
            </a:r>
          </a:p>
        </p:txBody>
      </p:sp>
      <p:sp>
        <p:nvSpPr>
          <p:cNvPr id="11" name="کل رویدادها-note">
            <a:extLst xmlns:a="http://schemas.openxmlformats.org/drawingml/2006/main">
              <a:ext uri="{FF2B5EF4-FFF2-40B4-BE49-F238E27FC236}">
                <a16:creationId xmlns:a16="http://schemas.microsoft.com/office/drawing/2014/main" id="{32FA115C-413A-49A3-9E64-06C611D9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66900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89744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‏پس از حذف رکورد تکراری</a:t>
            </a:r>
          </a:p>
        </p:txBody>
      </p:sp>
      <p:sp>
        <p:nvSpPr>
          <p:cNvPr id="12" name="احیای موفق-card">
            <a:extLst xmlns:a="http://schemas.openxmlformats.org/drawingml/2006/main">
              <a:ext uri="{FF2B5EF4-FFF2-40B4-BE49-F238E27FC236}">
                <a16:creationId xmlns:a16="http://schemas.microsoft.com/office/drawing/2014/main" id="{6AC9758B-AB2B-4DB6-A5C5-4DF5B083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028700"/>
            <a:ext cx="241935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4F8FA"/>
          </a:solidFill>
          <a:ln xmlns:a="http://schemas.openxmlformats.org/drawingml/2006/main" w="0">
            <a:solidFill>
              <a:srgbClr val="F4F8FA"/>
            </a:solidFill>
            <a:prstDash val="solid"/>
          </a:ln>
        </p:spPr>
      </p:sp>
      <p:sp>
        <p:nvSpPr>
          <p:cNvPr id="13" name="احیای موفق-accent">
            <a:extLst xmlns:a="http://schemas.openxmlformats.org/drawingml/2006/main">
              <a:ext uri="{FF2B5EF4-FFF2-40B4-BE49-F238E27FC236}">
                <a16:creationId xmlns:a16="http://schemas.microsoft.com/office/drawing/2014/main" id="{E3E214A9-FDE2-4560-A8B6-E34C6EDB9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10287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14" name="احیای موفق-label">
            <a:extLst xmlns:a="http://schemas.openxmlformats.org/drawingml/2006/main">
              <a:ext uri="{FF2B5EF4-FFF2-40B4-BE49-F238E27FC236}">
                <a16:creationId xmlns:a16="http://schemas.microsoft.com/office/drawing/2014/main" id="{ECE57516-248D-432E-A929-AB4719317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16205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‏احیای موفق</a:t>
            </a:r>
          </a:p>
        </p:txBody>
      </p:sp>
      <p:sp>
        <p:nvSpPr>
          <p:cNvPr id="15" name="احیای موفق-value">
            <a:extLst xmlns:a="http://schemas.openxmlformats.org/drawingml/2006/main">
              <a:ext uri="{FF2B5EF4-FFF2-40B4-BE49-F238E27FC236}">
                <a16:creationId xmlns:a16="http://schemas.microsoft.com/office/drawing/2014/main" id="{E3A6DE91-F6CA-4394-92F1-F695AEDDC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42875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defRPr sz="2625" b="1">
                <a:solidFill>
                  <a:srgbClr val="2E8B57"/>
                </a:solidFill>
                <a:latin typeface="Tahoma"/>
                <a:ea typeface="Tahoma"/>
                <a:cs typeface="Tahoma"/>
              </a:defRPr>
            </a:pPr>
            <a:r>
              <a:rPr sz="2625" b="1">
                <a:solidFill>
                  <a:srgbClr val="2E8B57"/>
                </a:solidFill>
                <a:latin typeface="Tahoma"/>
                <a:ea typeface="Tahoma"/>
                <a:cs typeface="Tahoma"/>
              </a:rPr>
              <a:t>‏64</a:t>
            </a:r>
          </a:p>
        </p:txBody>
      </p:sp>
      <p:sp>
        <p:nvSpPr>
          <p:cNvPr id="16" name="احیای ناموفق-card">
            <a:extLst xmlns:a="http://schemas.openxmlformats.org/drawingml/2006/main">
              <a:ext uri="{FF2B5EF4-FFF2-40B4-BE49-F238E27FC236}">
                <a16:creationId xmlns:a16="http://schemas.microsoft.com/office/drawing/2014/main" id="{92237C34-A4F2-48E3-92B5-DC70DF216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028700"/>
            <a:ext cx="241935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4F8FA"/>
          </a:solidFill>
          <a:ln xmlns:a="http://schemas.openxmlformats.org/drawingml/2006/main" w="0">
            <a:solidFill>
              <a:srgbClr val="F4F8FA"/>
            </a:solidFill>
            <a:prstDash val="solid"/>
          </a:ln>
        </p:spPr>
      </p:sp>
      <p:sp>
        <p:nvSpPr>
          <p:cNvPr id="17" name="احیای ناموفق-accent">
            <a:extLst xmlns:a="http://schemas.openxmlformats.org/drawingml/2006/main">
              <a:ext uri="{FF2B5EF4-FFF2-40B4-BE49-F238E27FC236}">
                <a16:creationId xmlns:a16="http://schemas.microsoft.com/office/drawing/2014/main" id="{32B039F2-7621-40B2-AE27-57DAEE01A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0287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4B4B"/>
          </a:solidFill>
          <a:ln xmlns:a="http://schemas.openxmlformats.org/drawingml/2006/main" w="0">
            <a:solidFill>
              <a:srgbClr val="C64B4B"/>
            </a:solidFill>
            <a:prstDash val="solid"/>
          </a:ln>
        </p:spPr>
      </p:sp>
      <p:sp>
        <p:nvSpPr>
          <p:cNvPr id="18" name="احیای ناموفق-label">
            <a:extLst xmlns:a="http://schemas.openxmlformats.org/drawingml/2006/main">
              <a:ext uri="{FF2B5EF4-FFF2-40B4-BE49-F238E27FC236}">
                <a16:creationId xmlns:a16="http://schemas.microsoft.com/office/drawing/2014/main" id="{008263EC-0E2A-478A-9540-0CA12F519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16205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‏احیای ناموفق</a:t>
            </a:r>
          </a:p>
        </p:txBody>
      </p:sp>
      <p:sp>
        <p:nvSpPr>
          <p:cNvPr id="19" name="احیای ناموفق-value">
            <a:extLst xmlns:a="http://schemas.openxmlformats.org/drawingml/2006/main">
              <a:ext uri="{FF2B5EF4-FFF2-40B4-BE49-F238E27FC236}">
                <a16:creationId xmlns:a16="http://schemas.microsoft.com/office/drawing/2014/main" id="{8B231017-C540-4E94-93B0-6A13A6D7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2875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defRPr sz="2625" b="1">
                <a:solidFill>
                  <a:srgbClr val="C64B4B"/>
                </a:solidFill>
                <a:latin typeface="Tahoma"/>
                <a:ea typeface="Tahoma"/>
                <a:cs typeface="Tahoma"/>
              </a:defRPr>
            </a:pPr>
            <a:r>
              <a:rPr sz="2625" b="1">
                <a:solidFill>
                  <a:srgbClr val="C64B4B"/>
                </a:solidFill>
                <a:latin typeface="Tahoma"/>
                <a:ea typeface="Tahoma"/>
                <a:cs typeface="Tahoma"/>
              </a:rPr>
              <a:t>‏75</a:t>
            </a:r>
          </a:p>
        </p:txBody>
      </p:sp>
      <p:sp>
        <p:nvSpPr>
          <p:cNvPr id="20" name="نرخ موفقیت-card">
            <a:extLst xmlns:a="http://schemas.openxmlformats.org/drawingml/2006/main">
              <a:ext uri="{FF2B5EF4-FFF2-40B4-BE49-F238E27FC236}">
                <a16:creationId xmlns:a16="http://schemas.microsoft.com/office/drawing/2014/main" id="{5AC06CBA-6C92-4E38-B4C8-B38C63820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028700"/>
            <a:ext cx="241935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4F8FA"/>
          </a:solidFill>
          <a:ln xmlns:a="http://schemas.openxmlformats.org/drawingml/2006/main" w="0">
            <a:solidFill>
              <a:srgbClr val="F4F8FA"/>
            </a:solidFill>
            <a:prstDash val="solid"/>
          </a:ln>
        </p:spPr>
      </p:sp>
      <p:sp>
        <p:nvSpPr>
          <p:cNvPr id="21" name="نرخ موفقیت-accent">
            <a:extLst xmlns:a="http://schemas.openxmlformats.org/drawingml/2006/main">
              <a:ext uri="{FF2B5EF4-FFF2-40B4-BE49-F238E27FC236}">
                <a16:creationId xmlns:a16="http://schemas.microsoft.com/office/drawing/2014/main" id="{4A15D0A2-CF3B-49D0-971D-F1789AFCE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10287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22" name="نرخ موفقیت-label">
            <a:extLst xmlns:a="http://schemas.openxmlformats.org/drawingml/2006/main">
              <a:ext uri="{FF2B5EF4-FFF2-40B4-BE49-F238E27FC236}">
                <a16:creationId xmlns:a16="http://schemas.microsoft.com/office/drawing/2014/main" id="{38F930DC-3483-44C3-A219-6C5CAB40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16205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‏نرخ موفقیت</a:t>
            </a:r>
          </a:p>
        </p:txBody>
      </p:sp>
      <p:sp>
        <p:nvSpPr>
          <p:cNvPr id="23" name="نرخ موفقیت-value">
            <a:extLst xmlns:a="http://schemas.openxmlformats.org/drawingml/2006/main">
              <a:ext uri="{FF2B5EF4-FFF2-40B4-BE49-F238E27FC236}">
                <a16:creationId xmlns:a16="http://schemas.microsoft.com/office/drawing/2014/main" id="{9C553F53-DD88-438D-B16C-338EF0B40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defRPr sz="2625" b="1">
                <a:solidFill>
                  <a:srgbClr val="00A6A6"/>
                </a:solidFill>
                <a:latin typeface="Tahoma"/>
                <a:ea typeface="Tahoma"/>
                <a:cs typeface="Tahoma"/>
              </a:defRPr>
            </a:pPr>
            <a:r>
              <a:rPr sz="2625" b="1">
                <a:solidFill>
                  <a:srgbClr val="00A6A6"/>
                </a:solidFill>
                <a:latin typeface="Tahoma"/>
                <a:ea typeface="Tahoma"/>
                <a:cs typeface="Tahoma"/>
              </a:rPr>
              <a:t>‏46%</a:t>
            </a:r>
          </a:p>
        </p:txBody>
      </p:sp>
      <p:sp>
        <p:nvSpPr>
          <p:cNvPr id="24" name="روند نرخ موفقیت ماهانه-chart-title">
            <a:extLst xmlns:a="http://schemas.openxmlformats.org/drawingml/2006/main">
              <a:ext uri="{FF2B5EF4-FFF2-40B4-BE49-F238E27FC236}">
                <a16:creationId xmlns:a16="http://schemas.microsoft.com/office/drawing/2014/main" id="{D5584498-F017-4E89-BD3D-AB46C682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695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‏روند نرخ موفقیت ماهانه</a:t>
            </a:r>
          </a:p>
        </p:txBody>
      </p:sp>
      <p:graphicFrame>
        <p:nvGraphicFramePr>
          <p:cNvPr id="52" name="Chart"/>
          <p:cNvGraphicFramePr/>
          <p:nvPr/>
        </p:nvGraphicFramePr>
        <p:xfrm>
          <a:off xmlns:a="http://schemas.openxmlformats.org/drawingml/2006/main" x="685800" y="2647950"/>
          <a:ext xmlns:a="http://schemas.openxmlformats.org/drawingml/2006/main" cx="6953250" cy="3581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094b5697d794a71"/>
          </a:graphicData>
        </a:graphic>
      </p:graphicFrame>
      <p:sp>
        <p:nvSpPr>
          <p:cNvPr id="26" name="ترکیب نتایج-chart-title">
            <a:extLst xmlns:a="http://schemas.openxmlformats.org/drawingml/2006/main">
              <a:ext uri="{FF2B5EF4-FFF2-40B4-BE49-F238E27FC236}">
                <a16:creationId xmlns:a16="http://schemas.microsoft.com/office/drawing/2014/main" id="{B2653FEB-C81E-4508-A0B9-96225F5FA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241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‏ترکیب نتایج</a:t>
            </a:r>
          </a:p>
        </p:txBody>
      </p:sp>
      <p:graphicFrame>
        <p:nvGraphicFramePr>
          <p:cNvPr id="54" name="Chart"/>
          <p:cNvGraphicFramePr/>
          <p:nvPr/>
        </p:nvGraphicFramePr>
        <p:xfrm>
          <a:off xmlns:a="http://schemas.openxmlformats.org/drawingml/2006/main" x="7886700" y="2647950"/>
          <a:ext xmlns:a="http://schemas.openxmlformats.org/drawingml/2006/main" cx="3619500" cy="3581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464d3fca16e4179"/>
          </a:graphicData>
        </a:graphic>
      </p:graphicFrame>
    </p:spTree>
    <p:extLst>
      <p:ext uri="{BB962C8B-B14F-4D97-AF65-F5344CB8AC3E}">
        <p14:creationId xmlns:p14="http://schemas.microsoft.com/office/powerpoint/2010/main" val="19397180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rule">
            <a:extLst xmlns:a="http://schemas.openxmlformats.org/drawingml/2006/main">
              <a:ext uri="{FF2B5EF4-FFF2-40B4-BE49-F238E27FC236}">
                <a16:creationId xmlns:a16="http://schemas.microsoft.com/office/drawing/2014/main" id="{30C7D780-37A8-430D-B53C-F29EF43B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972F8A4-54E1-4012-AB63-A8133BE5B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23850"/>
            <a:ext cx="598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defRPr sz="337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‏نتیجه و حجم رویدادها</a:t>
            </a:r>
          </a:p>
        </p:txBody>
      </p:sp>
      <p:sp>
        <p:nvSpPr>
          <p:cNvPr id="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79AB5DE-09DB-4A8F-9D0C-CB8D367C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‏گزارش مدیریت CPR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C6620CC-AECB-4F21-95B1-8F9FC6A1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8"/>
          </a:solidFill>
          <a:ln xmlns:a="http://schemas.openxmlformats.org/drawingml/2006/main" w="0">
            <a:solidFill>
              <a:srgbClr val="D7E1E8"/>
            </a:solidFill>
            <a:prstDash val="solid"/>
          </a:ln>
        </p:spPr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4227615-35EF-4E63-9B1B-B22FAFA09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‏3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A304E6F7-9CA0-4142-A600-6CC27266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15100"/>
            <a:ext cx="483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‏بیمارستان قلب شهید چمران اصفهان | سه ماهه اول ۱۴۰۵</a:t>
            </a:r>
          </a:p>
        </p:txBody>
      </p:sp>
      <p:sp>
        <p:nvSpPr>
          <p:cNvPr id="7" name="نتیجه احیا-chart-title">
            <a:extLst xmlns:a="http://schemas.openxmlformats.org/drawingml/2006/main">
              <a:ext uri="{FF2B5EF4-FFF2-40B4-BE49-F238E27FC236}">
                <a16:creationId xmlns:a16="http://schemas.microsoft.com/office/drawing/2014/main" id="{8B80FE39-2D14-492D-9F03-5D7F413F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520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‏نتیجه احیا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685800" y="1390650"/>
          <a:ext xmlns:a="http://schemas.openxmlformats.org/drawingml/2006/main" cx="5200650" cy="3581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a17a8807bb84a99"/>
          </a:graphicData>
        </a:graphic>
      </p:graphicFrame>
      <p:sp>
        <p:nvSpPr>
          <p:cNvPr id="9" name="تعداد رویدادهای ماهانه-chart-title">
            <a:extLst xmlns:a="http://schemas.openxmlformats.org/drawingml/2006/main">
              <a:ext uri="{FF2B5EF4-FFF2-40B4-BE49-F238E27FC236}">
                <a16:creationId xmlns:a16="http://schemas.microsoft.com/office/drawing/2014/main" id="{CC001430-D40D-4096-AE21-6A6F28F7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066800"/>
            <a:ext cx="520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‏تعداد رویدادهای ماهانه</a:t>
            </a:r>
          </a:p>
        </p:txBody>
      </p:sp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6305550" y="1390650"/>
          <a:ext xmlns:a="http://schemas.openxmlformats.org/drawingml/2006/main" cx="5200650" cy="3581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6162e07f7a84d80"/>
          </a:graphicData>
        </a:graphic>
      </p:graphicFrame>
      <p:sp>
        <p:nvSpPr>
          <p:cNvPr id="11" name="بیشترین حجم بخش-insight">
            <a:extLst xmlns:a="http://schemas.openxmlformats.org/drawingml/2006/main">
              <a:ext uri="{FF2B5EF4-FFF2-40B4-BE49-F238E27FC236}">
                <a16:creationId xmlns:a16="http://schemas.microsoft.com/office/drawing/2014/main" id="{2A0D153A-832A-4B73-A239-8D0B001A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3714750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4F8FA"/>
          </a:solidFill>
          <a:ln xmlns:a="http://schemas.openxmlformats.org/drawingml/2006/main" w="0">
            <a:solidFill>
              <a:srgbClr val="F4F8FA"/>
            </a:solidFill>
            <a:prstDash val="solid"/>
          </a:ln>
        </p:spPr>
      </p:sp>
      <p:sp>
        <p:nvSpPr>
          <p:cNvPr id="12" name="بیشترین حجم بخش-bar">
            <a:extLst xmlns:a="http://schemas.openxmlformats.org/drawingml/2006/main">
              <a:ext uri="{FF2B5EF4-FFF2-40B4-BE49-F238E27FC236}">
                <a16:creationId xmlns:a16="http://schemas.microsoft.com/office/drawing/2014/main" id="{9D939C08-CE05-48F3-B8F4-965995E52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176B87"/>
            </a:solidFill>
            <a:prstDash val="solid"/>
          </a:ln>
        </p:spPr>
      </p:sp>
      <p:sp>
        <p:nvSpPr>
          <p:cNvPr id="13" name="بیشترین حجم بخش-text">
            <a:extLst xmlns:a="http://schemas.openxmlformats.org/drawingml/2006/main">
              <a:ext uri="{FF2B5EF4-FFF2-40B4-BE49-F238E27FC236}">
                <a16:creationId xmlns:a16="http://schemas.microsoft.com/office/drawing/2014/main" id="{8393CE3B-B1F7-43A3-BD13-469DE36DB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9590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‏بیشترین حجم بخش: CICU، 51 رویداد</a:t>
            </a:r>
          </a:p>
        </p:txBody>
      </p:sp>
      <p:sp>
        <p:nvSpPr>
          <p:cNvPr id="14" name="پرتراکم‌ترین شیفت-insight">
            <a:extLst xmlns:a="http://schemas.openxmlformats.org/drawingml/2006/main">
              <a:ext uri="{FF2B5EF4-FFF2-40B4-BE49-F238E27FC236}">
                <a16:creationId xmlns:a16="http://schemas.microsoft.com/office/drawing/2014/main" id="{023C1D15-C291-454C-9B6D-0894374FE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3714750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4F8FA"/>
          </a:solidFill>
          <a:ln xmlns:a="http://schemas.openxmlformats.org/drawingml/2006/main" w="0">
            <a:solidFill>
              <a:srgbClr val="F4F8FA"/>
            </a:solidFill>
            <a:prstDash val="solid"/>
          </a:ln>
        </p:spPr>
      </p:sp>
      <p:sp>
        <p:nvSpPr>
          <p:cNvPr id="15" name="پرتراکم‌ترین شیفت-bar">
            <a:extLst xmlns:a="http://schemas.openxmlformats.org/drawingml/2006/main">
              <a:ext uri="{FF2B5EF4-FFF2-40B4-BE49-F238E27FC236}">
                <a16:creationId xmlns:a16="http://schemas.microsoft.com/office/drawing/2014/main" id="{64981454-AE82-4A1A-BB61-5B0D639E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16" name="پرتراکم‌ترین شیفت-text">
            <a:extLst xmlns:a="http://schemas.openxmlformats.org/drawingml/2006/main">
              <a:ext uri="{FF2B5EF4-FFF2-40B4-BE49-F238E27FC236}">
                <a16:creationId xmlns:a16="http://schemas.microsoft.com/office/drawing/2014/main" id="{2294D806-CFEE-4A22-87BB-B51B27310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9590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‏پرتراکم‌ترین شیفت: شب، 60 رویداد</a:t>
            </a:r>
          </a:p>
        </p:txBody>
      </p:sp>
      <p:sp>
        <p:nvSpPr>
          <p:cNvPr id="17" name="outcome-note">
            <a:extLst xmlns:a="http://schemas.openxmlformats.org/drawingml/2006/main">
              <a:ext uri="{FF2B5EF4-FFF2-40B4-BE49-F238E27FC236}">
                <a16:creationId xmlns:a16="http://schemas.microsoft.com/office/drawing/2014/main" id="{619A3BF1-E372-4083-8C23-47DF8498A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314950"/>
            <a:ext cx="6743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C64B4B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C64B4B"/>
                </a:solidFill>
                <a:latin typeface="Tahoma"/>
                <a:ea typeface="Tahoma"/>
                <a:cs typeface="Tahoma"/>
              </a:rPr>
              <a:t>‏11 مورد فاصله میان احیای ناموفق و موفق ثبت شده است.</a:t>
            </a:r>
          </a:p>
        </p:txBody>
      </p:sp>
    </p:spTree>
    <p:extLst>
      <p:ext uri="{BB962C8B-B14F-4D97-AF65-F5344CB8AC3E}">
        <p14:creationId xmlns:p14="http://schemas.microsoft.com/office/powerpoint/2010/main" val="15516238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rule">
            <a:extLst xmlns:a="http://schemas.openxmlformats.org/drawingml/2006/main">
              <a:ext uri="{FF2B5EF4-FFF2-40B4-BE49-F238E27FC236}">
                <a16:creationId xmlns:a16="http://schemas.microsoft.com/office/drawing/2014/main" id="{3C90C089-A3E7-4453-8269-4851A418B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5DD22A-4F81-4788-83B0-0F228C6C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23850"/>
            <a:ext cx="598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defRPr sz="337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‏عملکرد ماهانه</a:t>
            </a:r>
          </a:p>
        </p:txBody>
      </p:sp>
      <p:sp>
        <p:nvSpPr>
          <p:cNvPr id="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A24143F-7B19-4D8E-A5FA-E162D65E8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‏گزارش مدیریت CPR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AE4F396-3FD0-44D3-9410-2AD565CC4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8"/>
          </a:solidFill>
          <a:ln xmlns:a="http://schemas.openxmlformats.org/drawingml/2006/main" w="0">
            <a:solidFill>
              <a:srgbClr val="D7E1E8"/>
            </a:solidFill>
            <a:prstDash val="solid"/>
          </a:ln>
        </p:spPr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A3824F1-8E3F-4EE3-B195-7F5F2FA77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‏4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63A2228A-AA26-45E4-91A1-777B65F4F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15100"/>
            <a:ext cx="483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‏بیمارستان قلب شهید چمران اصفهان | سه ماهه اول ۱۴۰۵</a:t>
            </a:r>
          </a:p>
        </p:txBody>
      </p:sp>
      <p:sp>
        <p:nvSpPr>
          <p:cNvPr id="7" name="نرخ موفقیت ماهانه-chart-title">
            <a:extLst xmlns:a="http://schemas.openxmlformats.org/drawingml/2006/main">
              <a:ext uri="{FF2B5EF4-FFF2-40B4-BE49-F238E27FC236}">
                <a16:creationId xmlns:a16="http://schemas.microsoft.com/office/drawing/2014/main" id="{10F46B7A-88BC-4F6B-88A0-B6BD8DC56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123950"/>
            <a:ext cx="695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‏نرخ موفقیت ماهانه</a:t>
            </a:r>
          </a:p>
        </p:txBody>
      </p:sp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4552950" y="1447800"/>
          <a:ext xmlns:a="http://schemas.openxmlformats.org/drawingml/2006/main" cx="6953250" cy="3771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7bd5c25e1374215"/>
          </a:graphicData>
        </a:graphic>
      </p:graphicFrame>
      <p:sp>
        <p:nvSpPr>
          <p:cNvPr id="9" name="بهترین ماه-insight">
            <a:extLst xmlns:a="http://schemas.openxmlformats.org/drawingml/2006/main">
              <a:ext uri="{FF2B5EF4-FFF2-40B4-BE49-F238E27FC236}">
                <a16:creationId xmlns:a16="http://schemas.microsoft.com/office/drawing/2014/main" id="{AA129B0B-B184-4B23-9686-9C247D0D5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3714750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4F8FA"/>
          </a:solidFill>
          <a:ln xmlns:a="http://schemas.openxmlformats.org/drawingml/2006/main" w="0">
            <a:solidFill>
              <a:srgbClr val="F4F8FA"/>
            </a:solidFill>
            <a:prstDash val="solid"/>
          </a:ln>
        </p:spPr>
      </p:sp>
      <p:sp>
        <p:nvSpPr>
          <p:cNvPr id="10" name="بهترین ماه-bar">
            <a:extLst xmlns:a="http://schemas.openxmlformats.org/drawingml/2006/main">
              <a:ext uri="{FF2B5EF4-FFF2-40B4-BE49-F238E27FC236}">
                <a16:creationId xmlns:a16="http://schemas.microsoft.com/office/drawing/2014/main" id="{F4092C9B-8176-480C-A705-98F981F0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11" name="بهترین ماه-text">
            <a:extLst xmlns:a="http://schemas.openxmlformats.org/drawingml/2006/main">
              <a:ext uri="{FF2B5EF4-FFF2-40B4-BE49-F238E27FC236}">
                <a16:creationId xmlns:a16="http://schemas.microsoft.com/office/drawing/2014/main" id="{081DD4EE-D3F7-4586-888B-A41F7236A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6685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‏بهترین ماه: اردیبهشت، 52.4%</a:t>
            </a:r>
          </a:p>
        </p:txBody>
      </p:sp>
      <p:sp>
        <p:nvSpPr>
          <p:cNvPr id="12" name="کمترین نرخ-insight">
            <a:extLst xmlns:a="http://schemas.openxmlformats.org/drawingml/2006/main">
              <a:ext uri="{FF2B5EF4-FFF2-40B4-BE49-F238E27FC236}">
                <a16:creationId xmlns:a16="http://schemas.microsoft.com/office/drawing/2014/main" id="{ADE4E955-020F-40AA-BC5E-51CD7B3E8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3714750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4F8FA"/>
          </a:solidFill>
          <a:ln xmlns:a="http://schemas.openxmlformats.org/drawingml/2006/main" w="0">
            <a:solidFill>
              <a:srgbClr val="F4F8FA"/>
            </a:solidFill>
            <a:prstDash val="solid"/>
          </a:ln>
        </p:spPr>
      </p:sp>
      <p:sp>
        <p:nvSpPr>
          <p:cNvPr id="13" name="کمترین نرخ-bar">
            <a:extLst xmlns:a="http://schemas.openxmlformats.org/drawingml/2006/main">
              <a:ext uri="{FF2B5EF4-FFF2-40B4-BE49-F238E27FC236}">
                <a16:creationId xmlns:a16="http://schemas.microsoft.com/office/drawing/2014/main" id="{2B00E7C9-0CB3-475B-86CA-D9732142C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4B4B"/>
          </a:solidFill>
          <a:ln xmlns:a="http://schemas.openxmlformats.org/drawingml/2006/main" w="0">
            <a:solidFill>
              <a:srgbClr val="C64B4B"/>
            </a:solidFill>
            <a:prstDash val="solid"/>
          </a:ln>
        </p:spPr>
      </p:sp>
      <p:sp>
        <p:nvSpPr>
          <p:cNvPr id="14" name="کمترین نرخ-text">
            <a:extLst xmlns:a="http://schemas.openxmlformats.org/drawingml/2006/main">
              <a:ext uri="{FF2B5EF4-FFF2-40B4-BE49-F238E27FC236}">
                <a16:creationId xmlns:a16="http://schemas.microsoft.com/office/drawing/2014/main" id="{09167604-A042-436F-9EBE-E197C40BE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‏کمترین نرخ: خرداد، 40.9%</a:t>
            </a:r>
          </a:p>
        </p:txBody>
      </p:sp>
      <p:sp>
        <p:nvSpPr>
          <p:cNvPr id="15" name="میانگین کل-insight">
            <a:extLst xmlns:a="http://schemas.openxmlformats.org/drawingml/2006/main">
              <a:ext uri="{FF2B5EF4-FFF2-40B4-BE49-F238E27FC236}">
                <a16:creationId xmlns:a16="http://schemas.microsoft.com/office/drawing/2014/main" id="{8D726674-A2E3-4C59-9F7B-96DAFA67B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3714750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4F8FA"/>
          </a:solidFill>
          <a:ln xmlns:a="http://schemas.openxmlformats.org/drawingml/2006/main" w="0">
            <a:solidFill>
              <a:srgbClr val="F4F8FA"/>
            </a:solidFill>
            <a:prstDash val="solid"/>
          </a:ln>
        </p:spPr>
      </p:sp>
      <p:sp>
        <p:nvSpPr>
          <p:cNvPr id="16" name="میانگین کل-bar">
            <a:extLst xmlns:a="http://schemas.openxmlformats.org/drawingml/2006/main">
              <a:ext uri="{FF2B5EF4-FFF2-40B4-BE49-F238E27FC236}">
                <a16:creationId xmlns:a16="http://schemas.microsoft.com/office/drawing/2014/main" id="{A2B563B9-AB7C-4A38-A0C6-3B6E6EE48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17" name="میانگین کل-text">
            <a:extLst xmlns:a="http://schemas.openxmlformats.org/drawingml/2006/main">
              <a:ext uri="{FF2B5EF4-FFF2-40B4-BE49-F238E27FC236}">
                <a16:creationId xmlns:a16="http://schemas.microsoft.com/office/drawing/2014/main" id="{A743996C-00C5-44BE-94F2-24264DAA6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1945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‏میانگین کل: 46%</a:t>
            </a:r>
          </a:p>
        </p:txBody>
      </p:sp>
      <p:sp>
        <p:nvSpPr>
          <p:cNvPr id="18" name="monthly-takeaway">
            <a:extLst xmlns:a="http://schemas.openxmlformats.org/drawingml/2006/main">
              <a:ext uri="{FF2B5EF4-FFF2-40B4-BE49-F238E27FC236}">
                <a16:creationId xmlns:a16="http://schemas.microsoft.com/office/drawing/2014/main" id="{220E2201-F836-4ACF-9DE8-1B24592B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3714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‏نوسان ماهانه نشان می‌دهد پایش فرآیند و ترکیب تیم‌ها باید در سطح ماه و شیفت ادامه یابد.</a:t>
            </a:r>
          </a:p>
        </p:txBody>
      </p:sp>
    </p:spTree>
    <p:extLst>
      <p:ext uri="{BB962C8B-B14F-4D97-AF65-F5344CB8AC3E}">
        <p14:creationId xmlns:p14="http://schemas.microsoft.com/office/powerpoint/2010/main" val="5741025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rule">
            <a:extLst xmlns:a="http://schemas.openxmlformats.org/drawingml/2006/main">
              <a:ext uri="{FF2B5EF4-FFF2-40B4-BE49-F238E27FC236}">
                <a16:creationId xmlns:a16="http://schemas.microsoft.com/office/drawing/2014/main" id="{3B02D0C2-E347-45D1-9C64-C1722D566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BAC0862-F38C-404C-944B-D34557E8F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23850"/>
            <a:ext cx="598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defRPr sz="337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‏نمای سنی بیماران</a:t>
            </a:r>
          </a:p>
        </p:txBody>
      </p:sp>
      <p:sp>
        <p:nvSpPr>
          <p:cNvPr id="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515B2B1E-6BD8-410F-9142-BAF65AAE2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‏گزارش مدیریت CPR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FDD9C58-F3BA-4B4F-853B-F0F0732E7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8"/>
          </a:solidFill>
          <a:ln xmlns:a="http://schemas.openxmlformats.org/drawingml/2006/main" w="0">
            <a:solidFill>
              <a:srgbClr val="D7E1E8"/>
            </a:solidFill>
            <a:prstDash val="solid"/>
          </a:ln>
        </p:spPr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10456AB-3355-4C27-BFED-CBB6FC51C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‏5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C52665E8-5321-42B4-B97A-77461E118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15100"/>
            <a:ext cx="483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‏بیمارستان قلب شهید چمران اصفهان | سه ماهه اول ۱۴۰۵</a:t>
            </a:r>
          </a:p>
        </p:txBody>
      </p:sp>
      <p:sp>
        <p:nvSpPr>
          <p:cNvPr id="7" name="توزیع گروه‌های سنی-chart-title">
            <a:extLst xmlns:a="http://schemas.openxmlformats.org/drawingml/2006/main">
              <a:ext uri="{FF2B5EF4-FFF2-40B4-BE49-F238E27FC236}">
                <a16:creationId xmlns:a16="http://schemas.microsoft.com/office/drawing/2014/main" id="{373FF9DC-F144-4262-ADF7-6C8223358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‏توزیع گروه‌های سنی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85800" y="1390650"/>
          <a:ext xmlns:a="http://schemas.openxmlformats.org/drawingml/2006/main" cx="5238750" cy="40100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0555717ff4b4aa4"/>
          </a:graphicData>
        </a:graphic>
      </p:graphicFrame>
      <p:sp>
        <p:nvSpPr>
          <p:cNvPr id="9" name="نرخ موفقیت گروه‌های سنی-chart-title">
            <a:extLst xmlns:a="http://schemas.openxmlformats.org/drawingml/2006/main">
              <a:ext uri="{FF2B5EF4-FFF2-40B4-BE49-F238E27FC236}">
                <a16:creationId xmlns:a16="http://schemas.microsoft.com/office/drawing/2014/main" id="{07111179-8EBF-4BC6-B005-26915331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0668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‏نرخ موفقیت گروه‌های سنی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6267450" y="1390650"/>
          <a:ext xmlns:a="http://schemas.openxmlformats.org/drawingml/2006/main" cx="5238750" cy="40100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a73cbd793c14585"/>
          </a:graphicData>
        </a:graphic>
      </p:graphicFrame>
      <p:sp>
        <p:nvSpPr>
          <p:cNvPr id="11" name="takeaway-box">
            <a:extLst xmlns:a="http://schemas.openxmlformats.org/drawingml/2006/main">
              <a:ext uri="{FF2B5EF4-FFF2-40B4-BE49-F238E27FC236}">
                <a16:creationId xmlns:a16="http://schemas.microsoft.com/office/drawing/2014/main" id="{A227C9DF-C572-40F3-83CC-62B0EE2D5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108204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4F8FA"/>
          </a:solidFill>
          <a:ln xmlns:a="http://schemas.openxmlformats.org/drawingml/2006/main" w="0">
            <a:solidFill>
              <a:srgbClr val="F4F8FA"/>
            </a:solidFill>
            <a:prstDash val="solid"/>
          </a:ln>
        </p:spPr>
      </p:sp>
      <p:sp>
        <p:nvSpPr>
          <p:cNvPr id="12" name="takeaway">
            <a:extLst xmlns:a="http://schemas.openxmlformats.org/drawingml/2006/main">
              <a:ext uri="{FF2B5EF4-FFF2-40B4-BE49-F238E27FC236}">
                <a16:creationId xmlns:a16="http://schemas.microsoft.com/office/drawing/2014/main" id="{F2DA194D-2282-4D0A-A6BE-D7F3A9F8E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197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‏میانگین سن 63.2 و میانه سن 68 سال است.</a:t>
            </a:r>
          </a:p>
        </p:txBody>
      </p:sp>
    </p:spTree>
    <p:extLst>
      <p:ext uri="{BB962C8B-B14F-4D97-AF65-F5344CB8AC3E}">
        <p14:creationId xmlns:p14="http://schemas.microsoft.com/office/powerpoint/2010/main" val="7850039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rule">
            <a:extLst xmlns:a="http://schemas.openxmlformats.org/drawingml/2006/main">
              <a:ext uri="{FF2B5EF4-FFF2-40B4-BE49-F238E27FC236}">
                <a16:creationId xmlns:a16="http://schemas.microsoft.com/office/drawing/2014/main" id="{C79FAEFB-DB0F-4F08-8F4E-2D8C9D1A6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6623627-55FB-403A-83A1-C6C1D06B1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23850"/>
            <a:ext cx="598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defRPr sz="337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‏عملکرد بخش‌ها</a:t>
            </a:r>
          </a:p>
        </p:txBody>
      </p:sp>
      <p:sp>
        <p:nvSpPr>
          <p:cNvPr id="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1BAC6D1D-C7C0-46AC-82E8-24D4C6B48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‏گزارش مدیریت CPR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6A868BF-2BA3-4433-9B5E-76E6A9DAF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8"/>
          </a:solidFill>
          <a:ln xmlns:a="http://schemas.openxmlformats.org/drawingml/2006/main" w="0">
            <a:solidFill>
              <a:srgbClr val="D7E1E8"/>
            </a:solidFill>
            <a:prstDash val="solid"/>
          </a:ln>
        </p:spPr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2AB710C-C8E6-4129-9E0A-7AABD9343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‏6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953E3074-106B-46D7-9172-FCDDE9B12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15100"/>
            <a:ext cx="483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‏بیمارستان قلب شهید چمران اصفهان | سه ماهه اول ۱۴۰۵</a:t>
            </a:r>
          </a:p>
        </p:txBody>
      </p:sp>
      <p:sp>
        <p:nvSpPr>
          <p:cNvPr id="7" name="فراوانی CPR در بخش‌ها-chart-title">
            <a:extLst xmlns:a="http://schemas.openxmlformats.org/drawingml/2006/main">
              <a:ext uri="{FF2B5EF4-FFF2-40B4-BE49-F238E27FC236}">
                <a16:creationId xmlns:a16="http://schemas.microsoft.com/office/drawing/2014/main" id="{46E983ED-CB66-42A0-B4FB-E0BB32A92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‏فراوانی CPR در بخش‌ها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85800" y="1390650"/>
          <a:ext xmlns:a="http://schemas.openxmlformats.org/drawingml/2006/main" cx="5238750" cy="40100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af5ac4fa4894f25"/>
          </a:graphicData>
        </a:graphic>
      </p:graphicFrame>
      <p:sp>
        <p:nvSpPr>
          <p:cNvPr id="9" name="نرخ موفقیت بخش‌ها-chart-title">
            <a:extLst xmlns:a="http://schemas.openxmlformats.org/drawingml/2006/main">
              <a:ext uri="{FF2B5EF4-FFF2-40B4-BE49-F238E27FC236}">
                <a16:creationId xmlns:a16="http://schemas.microsoft.com/office/drawing/2014/main" id="{D9F4A694-1E81-47B8-ACD6-917E1E0C3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0668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‏نرخ موفقیت بخش‌ها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6267450" y="1390650"/>
          <a:ext xmlns:a="http://schemas.openxmlformats.org/drawingml/2006/main" cx="5238750" cy="40100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2fd9776984f4b06"/>
          </a:graphicData>
        </a:graphic>
      </p:graphicFrame>
      <p:sp>
        <p:nvSpPr>
          <p:cNvPr id="11" name="takeaway-box">
            <a:extLst xmlns:a="http://schemas.openxmlformats.org/drawingml/2006/main">
              <a:ext uri="{FF2B5EF4-FFF2-40B4-BE49-F238E27FC236}">
                <a16:creationId xmlns:a16="http://schemas.microsoft.com/office/drawing/2014/main" id="{F2D483EE-38A9-4393-B75A-3EBE3E586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108204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4F8FA"/>
          </a:solidFill>
          <a:ln xmlns:a="http://schemas.openxmlformats.org/drawingml/2006/main" w="0">
            <a:solidFill>
              <a:srgbClr val="F4F8FA"/>
            </a:solidFill>
            <a:prstDash val="solid"/>
          </a:ln>
        </p:spPr>
      </p:sp>
      <p:sp>
        <p:nvSpPr>
          <p:cNvPr id="12" name="takeaway">
            <a:extLst xmlns:a="http://schemas.openxmlformats.org/drawingml/2006/main">
              <a:ext uri="{FF2B5EF4-FFF2-40B4-BE49-F238E27FC236}">
                <a16:creationId xmlns:a16="http://schemas.microsoft.com/office/drawing/2014/main" id="{5F33AE5B-9208-4B6C-954A-C2BB0C147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197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‏CICU با 51 رویداد، بیشترین حجم CPR را داشته است.</a:t>
            </a:r>
          </a:p>
        </p:txBody>
      </p:sp>
    </p:spTree>
    <p:extLst>
      <p:ext uri="{BB962C8B-B14F-4D97-AF65-F5344CB8AC3E}">
        <p14:creationId xmlns:p14="http://schemas.microsoft.com/office/powerpoint/2010/main" val="16113566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rule">
            <a:extLst xmlns:a="http://schemas.openxmlformats.org/drawingml/2006/main">
              <a:ext uri="{FF2B5EF4-FFF2-40B4-BE49-F238E27FC236}">
                <a16:creationId xmlns:a16="http://schemas.microsoft.com/office/drawing/2014/main" id="{41BF75C1-662B-42BD-A129-9217EF78C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FD64320-5F96-4FEF-ADAD-97C4966B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23850"/>
            <a:ext cx="598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defRPr sz="337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‏عملکرد شیفت‌ها</a:t>
            </a:r>
          </a:p>
        </p:txBody>
      </p:sp>
      <p:sp>
        <p:nvSpPr>
          <p:cNvPr id="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1C63A865-FF99-4AF5-A643-39532B2C5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‏گزارش مدیریت CPR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3D8F3A2-4502-42A3-978D-50C3F5708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8"/>
          </a:solidFill>
          <a:ln xmlns:a="http://schemas.openxmlformats.org/drawingml/2006/main" w="0">
            <a:solidFill>
              <a:srgbClr val="D7E1E8"/>
            </a:solidFill>
            <a:prstDash val="solid"/>
          </a:ln>
        </p:spPr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0671DC1-273E-4198-BF87-A3B30BFBB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‏7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C11DC046-4DDD-44F4-AC40-A08796CDD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15100"/>
            <a:ext cx="483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‏بیمارستان قلب شهید چمران اصفهان | سه ماهه اول ۱۴۰۵</a:t>
            </a:r>
          </a:p>
        </p:txBody>
      </p:sp>
      <p:sp>
        <p:nvSpPr>
          <p:cNvPr id="7" name="فراوانی CPR در شیفت‌ها-chart-title">
            <a:extLst xmlns:a="http://schemas.openxmlformats.org/drawingml/2006/main">
              <a:ext uri="{FF2B5EF4-FFF2-40B4-BE49-F238E27FC236}">
                <a16:creationId xmlns:a16="http://schemas.microsoft.com/office/drawing/2014/main" id="{660EEBD1-BB15-40D1-B8BA-8BCA83844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‏فراوانی CPR در شیفت‌ها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85800" y="1390650"/>
          <a:ext xmlns:a="http://schemas.openxmlformats.org/drawingml/2006/main" cx="5238750" cy="40100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5685f910f1748a8"/>
          </a:graphicData>
        </a:graphic>
      </p:graphicFrame>
      <p:sp>
        <p:nvSpPr>
          <p:cNvPr id="9" name="نرخ موفقیت شیفت‌ها-chart-title">
            <a:extLst xmlns:a="http://schemas.openxmlformats.org/drawingml/2006/main">
              <a:ext uri="{FF2B5EF4-FFF2-40B4-BE49-F238E27FC236}">
                <a16:creationId xmlns:a16="http://schemas.microsoft.com/office/drawing/2014/main" id="{D0CB6756-5009-4D50-BD3A-9399F979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0668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‏نرخ موفقیت شیفت‌ها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6267450" y="1390650"/>
          <a:ext xmlns:a="http://schemas.openxmlformats.org/drawingml/2006/main" cx="5238750" cy="40100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ef861e1d7e34f52"/>
          </a:graphicData>
        </a:graphic>
      </p:graphicFrame>
      <p:sp>
        <p:nvSpPr>
          <p:cNvPr id="11" name="takeaway-box">
            <a:extLst xmlns:a="http://schemas.openxmlformats.org/drawingml/2006/main">
              <a:ext uri="{FF2B5EF4-FFF2-40B4-BE49-F238E27FC236}">
                <a16:creationId xmlns:a16="http://schemas.microsoft.com/office/drawing/2014/main" id="{D19C775A-4CFF-4D1F-A1DF-E10BBBCB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108204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4F8FA"/>
          </a:solidFill>
          <a:ln xmlns:a="http://schemas.openxmlformats.org/drawingml/2006/main" w="0">
            <a:solidFill>
              <a:srgbClr val="F4F8FA"/>
            </a:solidFill>
            <a:prstDash val="solid"/>
          </a:ln>
        </p:spPr>
      </p:sp>
      <p:sp>
        <p:nvSpPr>
          <p:cNvPr id="12" name="takeaway">
            <a:extLst xmlns:a="http://schemas.openxmlformats.org/drawingml/2006/main">
              <a:ext uri="{FF2B5EF4-FFF2-40B4-BE49-F238E27FC236}">
                <a16:creationId xmlns:a16="http://schemas.microsoft.com/office/drawing/2014/main" id="{63EB951F-27E5-4659-9DB2-343C236C4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197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‏شیفت شب با 60 رویداد، پرتراکم‌ترین شیفت بوده است.</a:t>
            </a:r>
          </a:p>
        </p:txBody>
      </p:sp>
    </p:spTree>
    <p:extLst>
      <p:ext uri="{BB962C8B-B14F-4D97-AF65-F5344CB8AC3E}">
        <p14:creationId xmlns:p14="http://schemas.microsoft.com/office/powerpoint/2010/main" val="11044633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rule">
            <a:extLst xmlns:a="http://schemas.openxmlformats.org/drawingml/2006/main">
              <a:ext uri="{FF2B5EF4-FFF2-40B4-BE49-F238E27FC236}">
                <a16:creationId xmlns:a16="http://schemas.microsoft.com/office/drawing/2014/main" id="{B583CC3F-379B-4F5F-A4AF-0B83A109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8C3B506-C899-4A2E-B71E-61E4FDBF6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23850"/>
            <a:ext cx="598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defRPr sz="337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‏عملکرد سوپروایزرها</a:t>
            </a:r>
          </a:p>
        </p:txBody>
      </p:sp>
      <p:sp>
        <p:nvSpPr>
          <p:cNvPr id="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B9001A1-C8F5-4411-9316-3CBA5BBBB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‏گزارش مدیریت CPR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89EC882-20B9-40D4-A0BB-10B38386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8"/>
          </a:solidFill>
          <a:ln xmlns:a="http://schemas.openxmlformats.org/drawingml/2006/main" w="0">
            <a:solidFill>
              <a:srgbClr val="D7E1E8"/>
            </a:solidFill>
            <a:prstDash val="solid"/>
          </a:ln>
        </p:spPr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6C9031A-89D8-410B-91C7-9AEAEB2F9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‏8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9AEE2C3B-34F5-4B13-B6CD-696A75B36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15100"/>
            <a:ext cx="483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‏بیمارستان قلب شهید چمران اصفهان | سه ماهه اول ۱۴۰۵</a:t>
            </a:r>
          </a:p>
        </p:txBody>
      </p:sp>
      <p:sp>
        <p:nvSpPr>
          <p:cNvPr id="7" name="فراوانی حضور سوپروایزرها-chart-title">
            <a:extLst xmlns:a="http://schemas.openxmlformats.org/drawingml/2006/main">
              <a:ext uri="{FF2B5EF4-FFF2-40B4-BE49-F238E27FC236}">
                <a16:creationId xmlns:a16="http://schemas.microsoft.com/office/drawing/2014/main" id="{3E98B89C-F8A1-4164-9FD7-75CE29DB7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‏فراوانی حضور سوپروایزرها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85800" y="1390650"/>
          <a:ext xmlns:a="http://schemas.openxmlformats.org/drawingml/2006/main" cx="5238750" cy="40100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861354aa0b04644"/>
          </a:graphicData>
        </a:graphic>
      </p:graphicFrame>
      <p:sp>
        <p:nvSpPr>
          <p:cNvPr id="9" name="نرخ موفقیت سوپروایزرها-chart-title">
            <a:extLst xmlns:a="http://schemas.openxmlformats.org/drawingml/2006/main">
              <a:ext uri="{FF2B5EF4-FFF2-40B4-BE49-F238E27FC236}">
                <a16:creationId xmlns:a16="http://schemas.microsoft.com/office/drawing/2014/main" id="{9F289DEB-6967-4E0F-9910-4C9D0E288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0668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‏نرخ موفقیت سوپروایزرها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6267450" y="1390650"/>
          <a:ext xmlns:a="http://schemas.openxmlformats.org/drawingml/2006/main" cx="5238750" cy="40100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a3a648046c14ba7"/>
          </a:graphicData>
        </a:graphic>
      </p:graphicFrame>
      <p:sp>
        <p:nvSpPr>
          <p:cNvPr id="11" name="takeaway-box">
            <a:extLst xmlns:a="http://schemas.openxmlformats.org/drawingml/2006/main">
              <a:ext uri="{FF2B5EF4-FFF2-40B4-BE49-F238E27FC236}">
                <a16:creationId xmlns:a16="http://schemas.microsoft.com/office/drawing/2014/main" id="{243D8404-0B42-4094-8447-6CF76B591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108204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4F8FA"/>
          </a:solidFill>
          <a:ln xmlns:a="http://schemas.openxmlformats.org/drawingml/2006/main" w="0">
            <a:solidFill>
              <a:srgbClr val="F4F8FA"/>
            </a:solidFill>
            <a:prstDash val="solid"/>
          </a:ln>
        </p:spPr>
      </p:sp>
      <p:sp>
        <p:nvSpPr>
          <p:cNvPr id="12" name="takeaway">
            <a:extLst xmlns:a="http://schemas.openxmlformats.org/drawingml/2006/main">
              <a:ext uri="{FF2B5EF4-FFF2-40B4-BE49-F238E27FC236}">
                <a16:creationId xmlns:a16="http://schemas.microsoft.com/office/drawing/2014/main" id="{C83BCFC2-1606-43F1-ACF0-5BC7EC30F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197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‏خانم رضائی با نرخ 70.4% در 27 مورد، بهترین عملکرد واجد حداقل حجم را ثبت کرده است.</a:t>
            </a:r>
          </a:p>
        </p:txBody>
      </p:sp>
    </p:spTree>
    <p:extLst>
      <p:ext uri="{BB962C8B-B14F-4D97-AF65-F5344CB8AC3E}">
        <p14:creationId xmlns:p14="http://schemas.microsoft.com/office/powerpoint/2010/main" val="14539251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rule">
            <a:extLst xmlns:a="http://schemas.openxmlformats.org/drawingml/2006/main">
              <a:ext uri="{FF2B5EF4-FFF2-40B4-BE49-F238E27FC236}">
                <a16:creationId xmlns:a16="http://schemas.microsoft.com/office/drawing/2014/main" id="{C8343180-C08F-48DA-A55D-95B19F1B3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69D96E9-838C-444A-B8ED-1387D899D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23850"/>
            <a:ext cx="598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defRPr sz="337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‏الگوی تراکم رویدادها</a:t>
            </a:r>
          </a:p>
        </p:txBody>
      </p:sp>
      <p:sp>
        <p:nvSpPr>
          <p:cNvPr id="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DF8E21FC-0A82-4947-B7F4-843156B6A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‏گزارش مدیریت CPR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EB50F46-864C-418C-A25B-38B0DD8AD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8"/>
          </a:solidFill>
          <a:ln xmlns:a="http://schemas.openxmlformats.org/drawingml/2006/main" w="0">
            <a:solidFill>
              <a:srgbClr val="D7E1E8"/>
            </a:solidFill>
            <a:prstDash val="solid"/>
          </a:ln>
        </p:spPr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67F184E-CA56-4D3B-B739-069FC2815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‏9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345A28C5-FCF3-418F-B3DD-D7D3A648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15100"/>
            <a:ext cx="483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‏بیمارستان قلب شهید چمران اصفهان | سه ماهه اول ۱۴۰۵</a:t>
            </a:r>
          </a:p>
        </p:txBody>
      </p:sp>
      <p:sp>
        <p:nvSpPr>
          <p:cNvPr id="7" name="بخش و شیفت-chart-title">
            <a:extLst xmlns:a="http://schemas.openxmlformats.org/drawingml/2006/main">
              <a:ext uri="{FF2B5EF4-FFF2-40B4-BE49-F238E27FC236}">
                <a16:creationId xmlns:a16="http://schemas.microsoft.com/office/drawing/2014/main" id="{F4BAF731-D01E-4766-849F-DD1B6F74F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‏بخش و شیفت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685800" y="1447800"/>
          <a:ext xmlns:a="http://schemas.openxmlformats.org/drawingml/2006/main" cx="6191250" cy="3952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47813"/>
                <a:gridCol w="1547813"/>
                <a:gridCol w="1547813"/>
                <a:gridCol w="1547813"/>
              </a:tblGrid>
              <a:tr h="219604"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</a:rPr>
                        <a:t>‏بخش</a:t>
                      </a:r>
                    </a:p>
                  </a:txBody>
                  <a:tcPr marL="91440" marR="91440" marT="45720" marB="45720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</a:rPr>
                        <a:t>‏شب</a:t>
                      </a:r>
                    </a:p>
                  </a:txBody>
                  <a:tcPr marL="91440" marR="91440" marT="45720" marB="45720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</a:rPr>
                        <a:t>‏صبح</a:t>
                      </a:r>
                    </a:p>
                  </a:txBody>
                  <a:tcPr marL="91440" marR="91440" marT="45720" marB="45720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</a:rPr>
                        <a:t>‏عصر</a:t>
                      </a:r>
                    </a:p>
                  </a:txBody>
                  <a:tcPr marL="91440" marR="91440" marT="45720" marB="45720">
                    <a:solidFill>
                      <a:srgbClr val="12304A"/>
                    </a:solidFill>
                  </a:tcPr>
                </a:tc>
              </a:tr>
              <a:tr h="219604">
                <a:tc>
                  <a:txBody>
                    <a:bodyPr/>
                    <a:lstStyle/>
                    <a:p>
                      <a:pPr algn="r"/>
                      <a:r>
                        <a:rPr sz="675" b="1">
                          <a:solidFill>
                            <a:srgbClr val="17324D"/>
                          </a:solidFill>
                        </a:rPr>
                        <a:t>CCU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A7D9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D8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</a:tr>
              <a:tr h="219604">
                <a:tc>
                  <a:txBody>
                    <a:bodyPr/>
                    <a:lstStyle/>
                    <a:p>
                      <a:pPr algn="r"/>
                      <a:r>
                        <a:rPr sz="675" b="1">
                          <a:solidFill>
                            <a:srgbClr val="17324D"/>
                          </a:solidFill>
                        </a:rPr>
                        <a:t>CCU ویژه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D8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D8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</a:tr>
              <a:tr h="219604">
                <a:tc>
                  <a:txBody>
                    <a:bodyPr/>
                    <a:lstStyle/>
                    <a:p>
                      <a:pPr algn="r"/>
                      <a:r>
                        <a:rPr sz="675" b="1">
                          <a:solidFill>
                            <a:srgbClr val="17324D"/>
                          </a:solidFill>
                        </a:rPr>
                        <a:t>CICU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</a:rPr>
                        <a:t>17</a:t>
                      </a:r>
                    </a:p>
                  </a:txBody>
                  <a:tcPr marL="91440" marR="91440" marT="45720" marB="45720">
                    <a:solidFill>
                      <a:srgbClr val="148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</a:rPr>
                        <a:t>14</a:t>
                      </a:r>
                    </a:p>
                  </a:txBody>
                  <a:tcPr marL="91440" marR="91440" marT="45720" marB="45720">
                    <a:solidFill>
                      <a:srgbClr val="55B6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 marL="91440" marR="91440" marT="45720" marB="45720">
                    <a:solidFill>
                      <a:srgbClr val="148A8A"/>
                    </a:solidFill>
                  </a:tcPr>
                </a:tc>
              </a:tr>
              <a:tr h="219604">
                <a:tc>
                  <a:txBody>
                    <a:bodyPr/>
                    <a:lstStyle/>
                    <a:p>
                      <a:pPr algn="r"/>
                      <a:r>
                        <a:rPr sz="675" b="1">
                          <a:solidFill>
                            <a:srgbClr val="17324D"/>
                          </a:solidFill>
                        </a:rPr>
                        <a:t>ICUA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D8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D8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</a:tr>
              <a:tr h="219604">
                <a:tc>
                  <a:txBody>
                    <a:bodyPr/>
                    <a:lstStyle/>
                    <a:p>
                      <a:pPr algn="r"/>
                      <a:r>
                        <a:rPr sz="675" b="1">
                          <a:solidFill>
                            <a:srgbClr val="17324D"/>
                          </a:solidFill>
                        </a:rPr>
                        <a:t>ICUB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A7D9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D8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D8ECEA"/>
                    </a:solidFill>
                  </a:tcPr>
                </a:tc>
              </a:tr>
              <a:tr h="219604">
                <a:tc>
                  <a:txBody>
                    <a:bodyPr/>
                    <a:lstStyle/>
                    <a:p>
                      <a:pPr algn="r"/>
                      <a:r>
                        <a:rPr sz="675" b="1">
                          <a:solidFill>
                            <a:srgbClr val="17324D"/>
                          </a:solidFill>
                        </a:rPr>
                        <a:t>NICU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D8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D8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</a:tr>
              <a:tr h="219604">
                <a:tc>
                  <a:txBody>
                    <a:bodyPr/>
                    <a:lstStyle/>
                    <a:p>
                      <a:pPr algn="r"/>
                      <a:r>
                        <a:rPr sz="675" b="1">
                          <a:solidFill>
                            <a:srgbClr val="17324D"/>
                          </a:solidFill>
                        </a:rPr>
                        <a:t>PICU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D8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D8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D8ECEA"/>
                    </a:solidFill>
                  </a:tcPr>
                </a:tc>
              </a:tr>
              <a:tr h="219604">
                <a:tc>
                  <a:txBody>
                    <a:bodyPr/>
                    <a:lstStyle/>
                    <a:p>
                      <a:pPr algn="r"/>
                      <a:r>
                        <a:rPr sz="675" b="1">
                          <a:solidFill>
                            <a:srgbClr val="17324D"/>
                          </a:solidFill>
                        </a:rPr>
                        <a:t>آنژیوگرافی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D8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A7D9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A7D9D5"/>
                    </a:solidFill>
                  </a:tcPr>
                </a:tc>
              </a:tr>
              <a:tr h="219604">
                <a:tc>
                  <a:txBody>
                    <a:bodyPr/>
                    <a:lstStyle/>
                    <a:p>
                      <a:pPr algn="r"/>
                      <a:r>
                        <a:rPr sz="675" b="1">
                          <a:solidFill>
                            <a:srgbClr val="17324D"/>
                          </a:solidFill>
                        </a:rPr>
                        <a:t>اطفال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D8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D8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</a:tr>
              <a:tr h="219604">
                <a:tc>
                  <a:txBody>
                    <a:bodyPr/>
                    <a:lstStyle/>
                    <a:p>
                      <a:pPr algn="r"/>
                      <a:r>
                        <a:rPr sz="675" b="1">
                          <a:solidFill>
                            <a:srgbClr val="17324D"/>
                          </a:solidFill>
                        </a:rPr>
                        <a:t>اورژانس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A7D9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D8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A7D9D5"/>
                    </a:solidFill>
                  </a:tcPr>
                </a:tc>
              </a:tr>
              <a:tr h="219604">
                <a:tc>
                  <a:txBody>
                    <a:bodyPr/>
                    <a:lstStyle/>
                    <a:p>
                      <a:pPr algn="r"/>
                      <a:r>
                        <a:rPr sz="675" b="1">
                          <a:solidFill>
                            <a:srgbClr val="17324D"/>
                          </a:solidFill>
                        </a:rPr>
                        <a:t>اکو تخصصی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D8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</a:tr>
              <a:tr h="219604">
                <a:tc>
                  <a:txBody>
                    <a:bodyPr/>
                    <a:lstStyle/>
                    <a:p>
                      <a:pPr algn="r"/>
                      <a:r>
                        <a:rPr sz="675" b="1">
                          <a:solidFill>
                            <a:srgbClr val="17324D"/>
                          </a:solidFill>
                        </a:rPr>
                        <a:t>جراحی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D8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</a:tr>
              <a:tr h="219604">
                <a:tc>
                  <a:txBody>
                    <a:bodyPr/>
                    <a:lstStyle/>
                    <a:p>
                      <a:pPr algn="r"/>
                      <a:r>
                        <a:rPr sz="675" b="1">
                          <a:solidFill>
                            <a:srgbClr val="17324D"/>
                          </a:solidFill>
                        </a:rPr>
                        <a:t>دیالیز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D8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D8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</a:tr>
              <a:tr h="219604">
                <a:tc>
                  <a:txBody>
                    <a:bodyPr/>
                    <a:lstStyle/>
                    <a:p>
                      <a:pPr algn="r"/>
                      <a:r>
                        <a:rPr sz="675" b="1">
                          <a:solidFill>
                            <a:srgbClr val="17324D"/>
                          </a:solidFill>
                        </a:rPr>
                        <a:t>زنان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D8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</a:tr>
              <a:tr h="219604">
                <a:tc>
                  <a:txBody>
                    <a:bodyPr/>
                    <a:lstStyle/>
                    <a:p>
                      <a:pPr algn="r"/>
                      <a:r>
                        <a:rPr sz="675" b="1">
                          <a:solidFill>
                            <a:srgbClr val="17324D"/>
                          </a:solidFill>
                        </a:rPr>
                        <a:t>مردان A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D8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</a:tr>
              <a:tr h="219604">
                <a:tc>
                  <a:txBody>
                    <a:bodyPr/>
                    <a:lstStyle/>
                    <a:p>
                      <a:pPr algn="r"/>
                      <a:r>
                        <a:rPr sz="675" b="1">
                          <a:solidFill>
                            <a:srgbClr val="17324D"/>
                          </a:solidFill>
                        </a:rPr>
                        <a:t>مردان C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D8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1F6F7"/>
                    </a:solidFill>
                  </a:tcPr>
                </a:tc>
              </a:tr>
              <a:tr h="219604">
                <a:tc>
                  <a:txBody>
                    <a:bodyPr/>
                    <a:lstStyle/>
                    <a:p>
                      <a:pPr algn="r"/>
                      <a:r>
                        <a:rPr sz="675" b="1">
                          <a:solidFill>
                            <a:srgbClr val="17324D"/>
                          </a:solidFill>
                        </a:rPr>
                        <a:t>پست آنژیو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D8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D8EC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D8ECEA"/>
                    </a:solidFill>
                  </a:tcPr>
                </a:tc>
              </a:tr>
            </a:tbl>
          </a:graphicData>
        </a:graphic>
      </p:graphicFrame>
      <p:sp>
        <p:nvSpPr>
          <p:cNvPr id="9" name="ماه و شیفت-chart-title">
            <a:extLst xmlns:a="http://schemas.openxmlformats.org/drawingml/2006/main">
              <a:ext uri="{FF2B5EF4-FFF2-40B4-BE49-F238E27FC236}">
                <a16:creationId xmlns:a16="http://schemas.microsoft.com/office/drawing/2014/main" id="{F246278D-AA18-4A0C-9FDD-EBA334CFB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06680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‏ماه و شیفت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7162800" y="1447800"/>
          <a:ext xmlns:a="http://schemas.openxmlformats.org/drawingml/2006/main" cx="434340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5850"/>
                <a:gridCol w="1085850"/>
                <a:gridCol w="1085850"/>
                <a:gridCol w="1085850"/>
              </a:tblGrid>
              <a:tr h="619125"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</a:rPr>
                        <a:t>‏ماه</a:t>
                      </a:r>
                    </a:p>
                  </a:txBody>
                  <a:tcPr marL="91440" marR="91440" marT="45720" marB="45720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</a:rPr>
                        <a:t>‏شب</a:t>
                      </a:r>
                    </a:p>
                  </a:txBody>
                  <a:tcPr marL="91440" marR="91440" marT="45720" marB="45720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</a:rPr>
                        <a:t>‏صبح</a:t>
                      </a:r>
                    </a:p>
                  </a:txBody>
                  <a:tcPr marL="91440" marR="91440" marT="45720" marB="45720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</a:rPr>
                        <a:t>‏عصر</a:t>
                      </a:r>
                    </a:p>
                  </a:txBody>
                  <a:tcPr marL="91440" marR="91440" marT="45720" marB="45720">
                    <a:solidFill>
                      <a:srgbClr val="12304A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r"/>
                      <a:r>
                        <a:rPr sz="825" b="1">
                          <a:solidFill>
                            <a:srgbClr val="17324D"/>
                          </a:solidFill>
                        </a:rPr>
                        <a:t>فروردین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</a:rPr>
                        <a:t>28</a:t>
                      </a:r>
                    </a:p>
                  </a:txBody>
                  <a:tcPr marL="91440" marR="91440" marT="45720" marB="45720">
                    <a:solidFill>
                      <a:srgbClr val="148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</a:rPr>
                        <a:t>16</a:t>
                      </a:r>
                    </a:p>
                  </a:txBody>
                  <a:tcPr marL="91440" marR="91440" marT="45720" marB="45720">
                    <a:solidFill>
                      <a:srgbClr val="55B6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A7D9D5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r"/>
                      <a:r>
                        <a:rPr sz="825" b="1">
                          <a:solidFill>
                            <a:srgbClr val="17324D"/>
                          </a:solidFill>
                        </a:rPr>
                        <a:t>اردیبهشت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A7D9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</a:rPr>
                        <a:t>18</a:t>
                      </a:r>
                    </a:p>
                  </a:txBody>
                  <a:tcPr marL="91440" marR="91440" marT="45720" marB="45720">
                    <a:solidFill>
                      <a:srgbClr val="55B6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A7D9D5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r"/>
                      <a:r>
                        <a:rPr sz="825" b="1">
                          <a:solidFill>
                            <a:srgbClr val="17324D"/>
                          </a:solidFill>
                        </a:rPr>
                        <a:t>خرداد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 marL="91440" marR="91440" marT="45720" marB="45720">
                    <a:solidFill>
                      <a:srgbClr val="55B6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17324D"/>
                          </a:solidFill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A7D9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</a:rPr>
                        <a:t>14</a:t>
                      </a:r>
                    </a:p>
                  </a:txBody>
                  <a:tcPr marL="91440" marR="91440" marT="45720" marB="45720">
                    <a:solidFill>
                      <a:srgbClr val="55B6B3"/>
                    </a:solidFill>
                  </a:tcPr>
                </a:tc>
              </a:tr>
            </a:tbl>
          </a:graphicData>
        </a:graphic>
      </p:graphicFrame>
      <p:sp>
        <p:nvSpPr>
          <p:cNvPr id="11" name="heatmap-note">
            <a:extLst xmlns:a="http://schemas.openxmlformats.org/drawingml/2006/main">
              <a:ext uri="{FF2B5EF4-FFF2-40B4-BE49-F238E27FC236}">
                <a16:creationId xmlns:a16="http://schemas.microsoft.com/office/drawing/2014/main" id="{D23259F9-BAC8-4DE3-AE50-8F667D161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191000"/>
            <a:ext cx="4343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‏سلول تیره‌تر نشان‌دهنده تعداد بیشتر رویداد است.</a:t>
            </a:r>
          </a:p>
        </p:txBody>
      </p:sp>
      <p:sp>
        <p:nvSpPr>
          <p:cNvPr id="12" name="takeaway-box">
            <a:extLst xmlns:a="http://schemas.openxmlformats.org/drawingml/2006/main">
              <a:ext uri="{FF2B5EF4-FFF2-40B4-BE49-F238E27FC236}">
                <a16:creationId xmlns:a16="http://schemas.microsoft.com/office/drawing/2014/main" id="{8DC5ED9F-538E-480C-8D08-4FD62ABDF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108204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4F8FA"/>
          </a:solidFill>
          <a:ln xmlns:a="http://schemas.openxmlformats.org/drawingml/2006/main" w="0">
            <a:solidFill>
              <a:srgbClr val="F4F8FA"/>
            </a:solidFill>
            <a:prstDash val="solid"/>
          </a:ln>
        </p:spPr>
      </p:sp>
      <p:sp>
        <p:nvSpPr>
          <p:cNvPr id="13" name="takeaway">
            <a:extLst xmlns:a="http://schemas.openxmlformats.org/drawingml/2006/main">
              <a:ext uri="{FF2B5EF4-FFF2-40B4-BE49-F238E27FC236}">
                <a16:creationId xmlns:a16="http://schemas.microsoft.com/office/drawing/2014/main" id="{19DF21CC-B2B2-438F-A655-02BEE5CFC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197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‏نقشه‌های حرارتی نقاط تمرکز عملیاتی را برای برنامه‌ریزی نیروی انسانی مشخص می‌کنند.</a:t>
            </a:r>
          </a:p>
        </p:txBody>
      </p:sp>
    </p:spTree>
    <p:extLst>
      <p:ext uri="{BB962C8B-B14F-4D97-AF65-F5344CB8AC3E}">
        <p14:creationId xmlns:p14="http://schemas.microsoft.com/office/powerpoint/2010/main" val="566141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rule">
            <a:extLst xmlns:a="http://schemas.openxmlformats.org/drawingml/2006/main">
              <a:ext uri="{FF2B5EF4-FFF2-40B4-BE49-F238E27FC236}">
                <a16:creationId xmlns:a16="http://schemas.microsoft.com/office/drawing/2014/main" id="{419EB14E-BEA8-4DAA-9D33-E9FF3E1A7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54BA22E-997D-4008-9657-19B0299D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23850"/>
            <a:ext cx="598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defRPr sz="337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‏جمع‌بندی مدیریتی</a:t>
            </a:r>
          </a:p>
        </p:txBody>
      </p:sp>
      <p:sp>
        <p:nvSpPr>
          <p:cNvPr id="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94A5F8EF-1300-4DF2-B9B3-D467FDB54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‏گزارش مدیریت CPR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3A3E26E-7DBF-4C43-9960-03A4AE368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8"/>
          </a:solidFill>
          <a:ln xmlns:a="http://schemas.openxmlformats.org/drawingml/2006/main" w="0">
            <a:solidFill>
              <a:srgbClr val="D7E1E8"/>
            </a:solidFill>
            <a:prstDash val="solid"/>
          </a:ln>
        </p:spPr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1E025CD-FD2F-4AA7-B570-30EBE1F7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‏10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A185C67C-A147-4C48-A0CF-FF5DBA632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15100"/>
            <a:ext cx="483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7386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607386"/>
                </a:solidFill>
                <a:latin typeface="Tahoma"/>
                <a:ea typeface="Tahoma"/>
                <a:cs typeface="Tahoma"/>
              </a:rPr>
              <a:t>‏بیمارستان قلب شهید چمران اصفهان | سه ماهه اول ۱۴۰۵</a:t>
            </a:r>
          </a:p>
        </p:txBody>
      </p:sp>
      <p:sp>
        <p:nvSpPr>
          <p:cNvPr id="7" name="rec-۱">
            <a:extLst xmlns:a="http://schemas.openxmlformats.org/drawingml/2006/main">
              <a:ext uri="{FF2B5EF4-FFF2-40B4-BE49-F238E27FC236}">
                <a16:creationId xmlns:a16="http://schemas.microsoft.com/office/drawing/2014/main" id="{2BAE3ACA-6477-4B82-B8CF-E5DAF99DF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9715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4F8FA"/>
          </a:solidFill>
          <a:ln xmlns:a="http://schemas.openxmlformats.org/drawingml/2006/main" w="0">
            <a:solidFill>
              <a:srgbClr val="F4F8FA"/>
            </a:solidFill>
            <a:prstDash val="solid"/>
          </a:ln>
        </p:spPr>
      </p:sp>
      <p:sp>
        <p:nvSpPr>
          <p:cNvPr id="8" name="rec-num-۱">
            <a:extLst xmlns:a="http://schemas.openxmlformats.org/drawingml/2006/main">
              <a:ext uri="{FF2B5EF4-FFF2-40B4-BE49-F238E27FC236}">
                <a16:creationId xmlns:a16="http://schemas.microsoft.com/office/drawing/2014/main" id="{3CEC3347-F5F5-4E1C-BB33-6153D97B0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1323975"/>
            <a:ext cx="5524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C64B4B"/>
          </a:solidFill>
          <a:ln xmlns:a="http://schemas.openxmlformats.org/drawingml/2006/main" w="0">
            <a:solidFill>
              <a:srgbClr val="C64B4B"/>
            </a:solidFill>
            <a:prstDash val="solid"/>
          </a:ln>
        </p:spPr>
      </p:sp>
      <p:sp>
        <p:nvSpPr>
          <p:cNvPr id="9" name="rec-num-text-۱">
            <a:extLst xmlns:a="http://schemas.openxmlformats.org/drawingml/2006/main">
              <a:ext uri="{FF2B5EF4-FFF2-40B4-BE49-F238E27FC236}">
                <a16:creationId xmlns:a16="http://schemas.microsoft.com/office/drawing/2014/main" id="{389D01CB-B401-425E-80F8-5B387484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132397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‏۱</a:t>
            </a:r>
          </a:p>
        </p:txBody>
      </p:sp>
      <p:sp>
        <p:nvSpPr>
          <p:cNvPr id="10" name="rec-head-۱">
            <a:extLst xmlns:a="http://schemas.openxmlformats.org/drawingml/2006/main">
              <a:ext uri="{FF2B5EF4-FFF2-40B4-BE49-F238E27FC236}">
                <a16:creationId xmlns:a16="http://schemas.microsoft.com/office/drawing/2014/main" id="{B710B030-E27E-4521-B9E7-E7DBB3C8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2763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‏تمرکز بر ماه با کمترین نرخ</a:t>
            </a:r>
          </a:p>
        </p:txBody>
      </p:sp>
      <p:sp>
        <p:nvSpPr>
          <p:cNvPr id="11" name="rec-body-۱">
            <a:extLst xmlns:a="http://schemas.openxmlformats.org/drawingml/2006/main">
              <a:ext uri="{FF2B5EF4-FFF2-40B4-BE49-F238E27FC236}">
                <a16:creationId xmlns:a16="http://schemas.microsoft.com/office/drawing/2014/main" id="{C7284976-5245-40A8-8FF6-793AE5038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00200"/>
            <a:ext cx="939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‏بررسی علل افت خرداد با نرخ 40.9% در سطح بخش و شیفت.</a:t>
            </a:r>
          </a:p>
        </p:txBody>
      </p:sp>
      <p:sp>
        <p:nvSpPr>
          <p:cNvPr id="12" name="rec-۲">
            <a:extLst xmlns:a="http://schemas.openxmlformats.org/drawingml/2006/main">
              <a:ext uri="{FF2B5EF4-FFF2-40B4-BE49-F238E27FC236}">
                <a16:creationId xmlns:a16="http://schemas.microsoft.com/office/drawing/2014/main" id="{E209396E-9723-491D-AAD8-24F1858F8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10820400" cy="9715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DF4F7"/>
          </a:solidFill>
          <a:ln xmlns:a="http://schemas.openxmlformats.org/drawingml/2006/main" w="0">
            <a:solidFill>
              <a:srgbClr val="EDF4F7"/>
            </a:solidFill>
            <a:prstDash val="solid"/>
          </a:ln>
        </p:spPr>
      </p:sp>
      <p:sp>
        <p:nvSpPr>
          <p:cNvPr id="13" name="rec-num-۲">
            <a:extLst xmlns:a="http://schemas.openxmlformats.org/drawingml/2006/main">
              <a:ext uri="{FF2B5EF4-FFF2-40B4-BE49-F238E27FC236}">
                <a16:creationId xmlns:a16="http://schemas.microsoft.com/office/drawing/2014/main" id="{10FD84DA-E7DE-40DD-9F05-0DE35BED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524125"/>
            <a:ext cx="5524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14" name="rec-num-text-۲">
            <a:extLst xmlns:a="http://schemas.openxmlformats.org/drawingml/2006/main">
              <a:ext uri="{FF2B5EF4-FFF2-40B4-BE49-F238E27FC236}">
                <a16:creationId xmlns:a16="http://schemas.microsoft.com/office/drawing/2014/main" id="{57E70D77-9137-40A0-B538-6FC69066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52412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‏۲</a:t>
            </a:r>
          </a:p>
        </p:txBody>
      </p:sp>
      <p:sp>
        <p:nvSpPr>
          <p:cNvPr id="15" name="rec-head-۲">
            <a:extLst xmlns:a="http://schemas.openxmlformats.org/drawingml/2006/main">
              <a:ext uri="{FF2B5EF4-FFF2-40B4-BE49-F238E27FC236}">
                <a16:creationId xmlns:a16="http://schemas.microsoft.com/office/drawing/2014/main" id="{D4F745BE-6CFA-43B7-9C05-75554D3F6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765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‏استانداردسازی تجربه تیم برتر</a:t>
            </a:r>
          </a:p>
        </p:txBody>
      </p:sp>
      <p:sp>
        <p:nvSpPr>
          <p:cNvPr id="16" name="rec-body-۲">
            <a:extLst xmlns:a="http://schemas.openxmlformats.org/drawingml/2006/main">
              <a:ext uri="{FF2B5EF4-FFF2-40B4-BE49-F238E27FC236}">
                <a16:creationId xmlns:a16="http://schemas.microsoft.com/office/drawing/2014/main" id="{755DB9F6-CBDB-412C-8690-273E7D3E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00350"/>
            <a:ext cx="939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‏انتقال تجربه خانم رضائی به سایر تیم‌ها؛ رتبه‌بندی با حداقل 5 مورد انجام شده است.</a:t>
            </a:r>
          </a:p>
        </p:txBody>
      </p:sp>
      <p:sp>
        <p:nvSpPr>
          <p:cNvPr id="17" name="rec-۳">
            <a:extLst xmlns:a="http://schemas.openxmlformats.org/drawingml/2006/main">
              <a:ext uri="{FF2B5EF4-FFF2-40B4-BE49-F238E27FC236}">
                <a16:creationId xmlns:a16="http://schemas.microsoft.com/office/drawing/2014/main" id="{C1DD5A53-43D2-4BAA-9BD3-869BA816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10820400" cy="9715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4F8FA"/>
          </a:solidFill>
          <a:ln xmlns:a="http://schemas.openxmlformats.org/drawingml/2006/main" w="0">
            <a:solidFill>
              <a:srgbClr val="F4F8FA"/>
            </a:solidFill>
            <a:prstDash val="solid"/>
          </a:ln>
        </p:spPr>
      </p:sp>
      <p:sp>
        <p:nvSpPr>
          <p:cNvPr id="18" name="rec-num-۳">
            <a:extLst xmlns:a="http://schemas.openxmlformats.org/drawingml/2006/main">
              <a:ext uri="{FF2B5EF4-FFF2-40B4-BE49-F238E27FC236}">
                <a16:creationId xmlns:a16="http://schemas.microsoft.com/office/drawing/2014/main" id="{C85F0FD6-4D14-420E-AF3B-09EA4C013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724275"/>
            <a:ext cx="5524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19" name="rec-num-text-۳">
            <a:extLst xmlns:a="http://schemas.openxmlformats.org/drawingml/2006/main">
              <a:ext uri="{FF2B5EF4-FFF2-40B4-BE49-F238E27FC236}">
                <a16:creationId xmlns:a16="http://schemas.microsoft.com/office/drawing/2014/main" id="{B59EC90F-E9EC-496B-B1F0-1880A2685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72427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‏۳</a:t>
            </a:r>
          </a:p>
        </p:txBody>
      </p:sp>
      <p:sp>
        <p:nvSpPr>
          <p:cNvPr id="20" name="rec-head-۳">
            <a:extLst xmlns:a="http://schemas.openxmlformats.org/drawingml/2006/main">
              <a:ext uri="{FF2B5EF4-FFF2-40B4-BE49-F238E27FC236}">
                <a16:creationId xmlns:a16="http://schemas.microsoft.com/office/drawing/2014/main" id="{755522DA-F27F-4566-BB9A-9A25885CA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766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‏مدیریت ظرفیت عملیاتی</a:t>
            </a:r>
          </a:p>
        </p:txBody>
      </p:sp>
      <p:sp>
        <p:nvSpPr>
          <p:cNvPr id="21" name="rec-body-۳">
            <a:extLst xmlns:a="http://schemas.openxmlformats.org/drawingml/2006/main">
              <a:ext uri="{FF2B5EF4-FFF2-40B4-BE49-F238E27FC236}">
                <a16:creationId xmlns:a16="http://schemas.microsoft.com/office/drawing/2014/main" id="{F7801A33-D2F4-41F3-BA93-E54CDD826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0"/>
            <a:ext cx="939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‏بازنگری پوشش نیروی انسانی در شیفت شب و بخش CICU.</a:t>
            </a:r>
          </a:p>
        </p:txBody>
      </p:sp>
      <p:sp>
        <p:nvSpPr>
          <p:cNvPr id="22" name="rec-۴">
            <a:extLst xmlns:a="http://schemas.openxmlformats.org/drawingml/2006/main">
              <a:ext uri="{FF2B5EF4-FFF2-40B4-BE49-F238E27FC236}">
                <a16:creationId xmlns:a16="http://schemas.microsoft.com/office/drawing/2014/main" id="{BA55066A-0B65-4321-8C4B-4E0495881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10820400" cy="9715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DF4F7"/>
          </a:solidFill>
          <a:ln xmlns:a="http://schemas.openxmlformats.org/drawingml/2006/main" w="0">
            <a:solidFill>
              <a:srgbClr val="EDF4F7"/>
            </a:solidFill>
            <a:prstDash val="solid"/>
          </a:ln>
        </p:spPr>
      </p:sp>
      <p:sp>
        <p:nvSpPr>
          <p:cNvPr id="23" name="rec-num-۴">
            <a:extLst xmlns:a="http://schemas.openxmlformats.org/drawingml/2006/main">
              <a:ext uri="{FF2B5EF4-FFF2-40B4-BE49-F238E27FC236}">
                <a16:creationId xmlns:a16="http://schemas.microsoft.com/office/drawing/2014/main" id="{9320E28F-6FE5-4A76-98A9-D2060501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924425"/>
            <a:ext cx="5524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24" name="rec-num-text-۴">
            <a:extLst xmlns:a="http://schemas.openxmlformats.org/drawingml/2006/main">
              <a:ext uri="{FF2B5EF4-FFF2-40B4-BE49-F238E27FC236}">
                <a16:creationId xmlns:a16="http://schemas.microsoft.com/office/drawing/2014/main" id="{561268E1-7C29-4935-B367-5D73A009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92442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‏۴</a:t>
            </a:r>
          </a:p>
        </p:txBody>
      </p:sp>
      <p:sp>
        <p:nvSpPr>
          <p:cNvPr id="25" name="rec-head-۴">
            <a:extLst xmlns:a="http://schemas.openxmlformats.org/drawingml/2006/main">
              <a:ext uri="{FF2B5EF4-FFF2-40B4-BE49-F238E27FC236}">
                <a16:creationId xmlns:a16="http://schemas.microsoft.com/office/drawing/2014/main" id="{BFED8ED0-BC9B-479D-A24E-5562E9D0A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8768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12304A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2304A"/>
                </a:solidFill>
                <a:latin typeface="Tahoma"/>
                <a:ea typeface="Tahoma"/>
                <a:cs typeface="Tahoma"/>
              </a:rPr>
              <a:t>‏کنترل کیفیت داده</a:t>
            </a:r>
          </a:p>
        </p:txBody>
      </p:sp>
      <p:sp>
        <p:nvSpPr>
          <p:cNvPr id="26" name="rec-body-۴">
            <a:extLst xmlns:a="http://schemas.openxmlformats.org/drawingml/2006/main">
              <a:ext uri="{FF2B5EF4-FFF2-40B4-BE49-F238E27FC236}">
                <a16:creationId xmlns:a16="http://schemas.microsoft.com/office/drawing/2014/main" id="{55031DF0-CF1A-4F78-BCFC-C8115A28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00650"/>
            <a:ext cx="939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‏2 رکورد تکراری حذف شد؛ کنترل تکرار و یکسان‌سازی نام‌ها در ورود داده الزامی است.</a:t>
            </a:r>
          </a:p>
        </p:txBody>
      </p:sp>
    </p:spTree>
    <p:extLst>
      <p:ext uri="{BB962C8B-B14F-4D97-AF65-F5344CB8AC3E}">
        <p14:creationId xmlns:p14="http://schemas.microsoft.com/office/powerpoint/2010/main" val="17761972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2026-06-24T19:55:54.1100000Z</dcterms:created>
  <dcterms:modified xsi:type="dcterms:W3CDTF">2026-06-24T19:55:54.1100000Z</dcterms:modified>
</coreProperties>
</file>