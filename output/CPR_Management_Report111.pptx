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8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‏روند نرخ موفقیت ماهانه</c:v>
          </c:tx>
          <c:spPr>
            <a:ln w="38100">
              <a:solidFill>
                <a:srgbClr val="00A6A6"/>
              </a:solidFill>
              <a:prstDash val="solid"/>
            </a:ln>
          </c:spPr>
          <c:marker>
            <c:symbol val="circle"/>
            <c:size val="8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‏فروردین</c:v>
              </c:pt>
              <c:pt idx="1">
                <c:v>‏اردیبهشت</c:v>
              </c:pt>
              <c:pt idx="2">
                <c:v>‏خرداد</c:v>
              </c:pt>
            </c:strLit>
          </c:cat>
          <c:val>
            <c:numLit>
              <c:formatCode>0"%"</c:formatCode>
              <c:ptCount val="3"/>
              <c:pt idx="0">
                <c:v>45.283018867924532</c:v>
              </c:pt>
              <c:pt idx="1">
                <c:v>52.380952380952387</c:v>
              </c:pt>
              <c:pt idx="2">
                <c:v>40.909090909090914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907-4070-BF9F-D55A24D1D64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  <c:txPr>
    <a:bodyPr/>
    <a:lstStyle/>
    <a:p>
      <a:pPr>
        <a:defRPr sz="1600"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v>‏ترکیب نتایج</c:v>
          </c:tx>
          <c:dPt>
            <c:idx val="0"/>
            <c:bubble3D val="0"/>
            <c:spPr>
              <a:solidFill>
                <a:srgbClr val="2E8B57"/>
              </a:solidFill>
            </c:spPr>
            <c:extLst>
              <c:ext xmlns:c16="http://schemas.microsoft.com/office/drawing/2014/chart" uri="{C3380CC4-5D6E-409C-BE32-E72D297353CC}">
                <c16:uniqueId val="{00000001-BDC9-47A6-A950-CFEF9ACF1721}"/>
              </c:ext>
            </c:extLst>
          </c:dPt>
          <c:dPt>
            <c:idx val="1"/>
            <c:bubble3D val="0"/>
            <c:spPr>
              <a:solidFill>
                <a:srgbClr val="C64B4B"/>
              </a:solidFill>
            </c:spPr>
            <c:extLst>
              <c:ext xmlns:c16="http://schemas.microsoft.com/office/drawing/2014/chart" uri="{C3380CC4-5D6E-409C-BE32-E72D297353CC}">
                <c16:uniqueId val="{00000003-BDC9-47A6-A950-CFEF9ACF1721}"/>
              </c:ext>
            </c:extLst>
          </c:dPt>
          <c:dLbls>
            <c:delete val="1"/>
          </c:dLbls>
          <c:cat>
            <c:strLit>
              <c:ptCount val="2"/>
              <c:pt idx="0">
                <c:v>‏موفق</c:v>
              </c:pt>
              <c:pt idx="1">
                <c:v>‏ناموفق</c:v>
              </c:pt>
            </c:strLit>
          </c:cat>
          <c:val>
            <c:numLit>
              <c:formatCode>General</c:formatCode>
              <c:ptCount val="2"/>
              <c:pt idx="0">
                <c:v>64</c:v>
              </c:pt>
              <c:pt idx="1">
                <c:v>75</c:v>
              </c:pt>
            </c:numLit>
          </c:val>
          <c:extLst>
            <c:ext xmlns:c16="http://schemas.microsoft.com/office/drawing/2014/chart" uri="{C3380CC4-5D6E-409C-BE32-E72D297353CC}">
              <c16:uniqueId val="{00000004-BDC9-47A6-A950-CFEF9ACF1721}"/>
            </c:ext>
          </c:extLst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0"/>
        </c:dLbls>
        <c:firstSliceAng val="0"/>
        <c:holeSize val="58"/>
      </c:doughnutChart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17324D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v>‏نتیجه احیا</c:v>
          </c:tx>
          <c:dPt>
            <c:idx val="0"/>
            <c:bubble3D val="0"/>
            <c:spPr>
              <a:solidFill>
                <a:srgbClr val="2E8B57"/>
              </a:solidFill>
            </c:spPr>
            <c:extLst>
              <c:ext xmlns:c16="http://schemas.microsoft.com/office/drawing/2014/chart" uri="{C3380CC4-5D6E-409C-BE32-E72D297353CC}">
                <c16:uniqueId val="{00000001-520D-4C14-A7D6-C94F6BB559F6}"/>
              </c:ext>
            </c:extLst>
          </c:dPt>
          <c:dPt>
            <c:idx val="1"/>
            <c:bubble3D val="0"/>
            <c:spPr>
              <a:solidFill>
                <a:srgbClr val="C64B4B"/>
              </a:solidFill>
            </c:spPr>
            <c:extLst>
              <c:ext xmlns:c16="http://schemas.microsoft.com/office/drawing/2014/chart" uri="{C3380CC4-5D6E-409C-BE32-E72D297353CC}">
                <c16:uniqueId val="{00000003-520D-4C14-A7D6-C94F6BB559F6}"/>
              </c:ext>
            </c:extLst>
          </c:dPt>
          <c:dLbls>
            <c:spPr>
              <a:solidFill>
                <a:srgbClr val="FFFFFF"/>
              </a:solidFill>
              <a:ln>
                <a:solidFill>
                  <a:srgbClr val="000000">
                    <a:lumMod val="65000"/>
                    <a:lumOff val="35000"/>
                  </a:srgbClr>
                </a:solidFill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</c:ext>
            </c:extLst>
          </c:dLbls>
          <c:cat>
            <c:strLit>
              <c:ptCount val="2"/>
              <c:pt idx="0">
                <c:v>‏موفق</c:v>
              </c:pt>
              <c:pt idx="1">
                <c:v>‏ناموفق</c:v>
              </c:pt>
            </c:strLit>
          </c:cat>
          <c:val>
            <c:numLit>
              <c:formatCode>General</c:formatCode>
              <c:ptCount val="2"/>
              <c:pt idx="0">
                <c:v>64</c:v>
              </c:pt>
              <c:pt idx="1">
                <c:v>75</c:v>
              </c:pt>
            </c:numLit>
          </c:val>
          <c:extLst>
            <c:ext xmlns:c16="http://schemas.microsoft.com/office/drawing/2014/chart" uri="{C3380CC4-5D6E-409C-BE32-E72D297353CC}">
              <c16:uniqueId val="{00000004-520D-4C14-A7D6-C94F6BB559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</c:plotArea>
    <c:legend>
      <c:legendPos val="b"/>
      <c:overlay val="0"/>
      <c:txPr>
        <a:bodyPr anchorCtr="1"/>
        <a:lstStyle/>
        <a:p>
          <a:pPr>
            <a:defRPr sz="1800">
              <a:solidFill>
                <a:srgbClr val="17324D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‏تعداد رویدادهای ماهانه</c:v>
          </c:tx>
          <c:spPr>
            <a:solidFill>
              <a:srgbClr val="176B8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‏فروردین</c:v>
              </c:pt>
              <c:pt idx="1">
                <c:v>‏اردیبهشت</c:v>
              </c:pt>
              <c:pt idx="2">
                <c:v>‏خرداد</c:v>
              </c:pt>
            </c:strLit>
          </c:cat>
          <c:val>
            <c:numLit>
              <c:formatCode>0</c:formatCode>
              <c:ptCount val="3"/>
              <c:pt idx="0">
                <c:v>53</c:v>
              </c:pt>
              <c:pt idx="1">
                <c:v>42</c:v>
              </c:pt>
              <c:pt idx="2">
                <c:v>44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DEF-4D99-9FBF-4BCFB54A8A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  <c:txPr>
    <a:bodyPr/>
    <a:lstStyle/>
    <a:p>
      <a:pPr>
        <a:defRPr sz="1600"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‏نرخ موفقیت ماهانه</c:v>
          </c:tx>
          <c:spPr>
            <a:ln w="38100">
              <a:solidFill>
                <a:srgbClr val="00A6A6"/>
              </a:solidFill>
              <a:prstDash val="solid"/>
            </a:ln>
          </c:spPr>
          <c:marker>
            <c:symbol val="circle"/>
            <c:size val="8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‏فروردین</c:v>
              </c:pt>
              <c:pt idx="1">
                <c:v>‏اردیبهشت</c:v>
              </c:pt>
              <c:pt idx="2">
                <c:v>‏خرداد</c:v>
              </c:pt>
            </c:strLit>
          </c:cat>
          <c:val>
            <c:numLit>
              <c:formatCode>0"%"</c:formatCode>
              <c:ptCount val="3"/>
              <c:pt idx="0">
                <c:v>45.283018867924532</c:v>
              </c:pt>
              <c:pt idx="1">
                <c:v>52.380952380952387</c:v>
              </c:pt>
              <c:pt idx="2">
                <c:v>40.909090909090914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F0D-4CB0-9335-5E78ABA79BF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400">
                <a:solidFill>
                  <a:srgbClr val="60738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0738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‏توزیع گروه‌های سنی</c:v>
          </c:tx>
          <c:spPr>
            <a:solidFill>
              <a:srgbClr val="176B8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‏نوزاد</c:v>
              </c:pt>
              <c:pt idx="1">
                <c:v>‏کودک</c:v>
              </c:pt>
              <c:pt idx="2">
                <c:v>‏جوان</c:v>
              </c:pt>
              <c:pt idx="3">
                <c:v>‏میانسال</c:v>
              </c:pt>
              <c:pt idx="4">
                <c:v>‏سالمند</c:v>
              </c:pt>
              <c:pt idx="5">
                <c:v>‏کهنسال</c:v>
              </c:pt>
            </c:strLit>
          </c:cat>
          <c:val>
            <c:numLit>
              <c:formatCode>0</c:formatCode>
              <c:ptCount val="6"/>
              <c:pt idx="0">
                <c:v>6</c:v>
              </c:pt>
              <c:pt idx="1">
                <c:v>2</c:v>
              </c:pt>
              <c:pt idx="2">
                <c:v>9</c:v>
              </c:pt>
              <c:pt idx="3">
                <c:v>23</c:v>
              </c:pt>
              <c:pt idx="4">
                <c:v>72</c:v>
              </c:pt>
              <c:pt idx="5">
                <c:v>27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E89-44E6-B07F-58F2CD5087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  <c:txPr>
    <a:bodyPr/>
    <a:lstStyle/>
    <a:p>
      <a:pPr>
        <a:defRPr sz="1400"/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‏نرخ موفقیت گروه‌های سنی</c:v>
          </c:tx>
          <c:spPr>
            <a:solidFill>
              <a:srgbClr val="00A6A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‏نوزاد</c:v>
              </c:pt>
              <c:pt idx="1">
                <c:v>‏کودک</c:v>
              </c:pt>
              <c:pt idx="2">
                <c:v>‏جوان</c:v>
              </c:pt>
              <c:pt idx="3">
                <c:v>‏میانسال</c:v>
              </c:pt>
              <c:pt idx="4">
                <c:v>‏سالمند</c:v>
              </c:pt>
              <c:pt idx="5">
                <c:v>‏کهنسال</c:v>
              </c:pt>
            </c:strLit>
          </c:cat>
          <c:val>
            <c:numLit>
              <c:formatCode>0"%"</c:formatCode>
              <c:ptCount val="6"/>
              <c:pt idx="0">
                <c:v>66.666666666666657</c:v>
              </c:pt>
              <c:pt idx="1">
                <c:v>50</c:v>
              </c:pt>
              <c:pt idx="2">
                <c:v>44.444444444444443</c:v>
              </c:pt>
              <c:pt idx="3">
                <c:v>43.478260869565219</c:v>
              </c:pt>
              <c:pt idx="4">
                <c:v>44.444444444444443</c:v>
              </c:pt>
              <c:pt idx="5">
                <c:v>48.148148148148145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94A-4162-BD33-573B244072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  <c:txPr>
    <a:bodyPr/>
    <a:lstStyle/>
    <a:p>
      <a:pPr>
        <a:defRPr sz="1400"/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‏فراوانی CPR در بخش‌ها</c:v>
          </c:tx>
          <c:spPr>
            <a:solidFill>
              <a:srgbClr val="176B8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7"/>
              <c:pt idx="0">
                <c:v>‏اکو تخصصی</c:v>
              </c:pt>
              <c:pt idx="1">
                <c:v>‏جراحی</c:v>
              </c:pt>
              <c:pt idx="2">
                <c:v>‏زنان</c:v>
              </c:pt>
              <c:pt idx="3">
                <c:v>‏مردان A</c:v>
              </c:pt>
              <c:pt idx="4">
                <c:v>‏NICU</c:v>
              </c:pt>
              <c:pt idx="5">
                <c:v>‏اطفال</c:v>
              </c:pt>
              <c:pt idx="6">
                <c:v>‏مردان C</c:v>
              </c:pt>
              <c:pt idx="7">
                <c:v>‏پست آنژیو</c:v>
              </c:pt>
              <c:pt idx="8">
                <c:v>‏CCU ویژه</c:v>
              </c:pt>
              <c:pt idx="9">
                <c:v>‏ICUA</c:v>
              </c:pt>
              <c:pt idx="10">
                <c:v>‏CCU</c:v>
              </c:pt>
              <c:pt idx="11">
                <c:v>‏PICU</c:v>
              </c:pt>
              <c:pt idx="12">
                <c:v>‏دیالیز</c:v>
              </c:pt>
              <c:pt idx="13">
                <c:v>‏ICUB</c:v>
              </c:pt>
              <c:pt idx="14">
                <c:v>‏آنژیوگرافی</c:v>
              </c:pt>
              <c:pt idx="15">
                <c:v>‏اورژانس</c:v>
              </c:pt>
              <c:pt idx="16">
                <c:v>‏CICU</c:v>
              </c:pt>
            </c:strLit>
          </c:cat>
          <c:val>
            <c:numLit>
              <c:formatCode>General</c:formatCode>
              <c:ptCount val="17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2</c:v>
              </c:pt>
              <c:pt idx="5">
                <c:v>2</c:v>
              </c:pt>
              <c:pt idx="6">
                <c:v>3</c:v>
              </c:pt>
              <c:pt idx="7">
                <c:v>3</c:v>
              </c:pt>
              <c:pt idx="8">
                <c:v>5</c:v>
              </c:pt>
              <c:pt idx="9">
                <c:v>5</c:v>
              </c:pt>
              <c:pt idx="10">
                <c:v>6</c:v>
              </c:pt>
              <c:pt idx="11">
                <c:v>6</c:v>
              </c:pt>
              <c:pt idx="12">
                <c:v>6</c:v>
              </c:pt>
              <c:pt idx="13">
                <c:v>14</c:v>
              </c:pt>
              <c:pt idx="14">
                <c:v>16</c:v>
              </c:pt>
              <c:pt idx="15">
                <c:v>16</c:v>
              </c:pt>
              <c:pt idx="16">
                <c:v>51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3FA-48E1-A939-63DDC09402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0738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17324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‏نرخ موفقیت بخش‌ها</c:v>
          </c:tx>
          <c:spPr>
            <a:solidFill>
              <a:srgbClr val="00A6A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7"/>
              <c:pt idx="0">
                <c:v>‏مردان A</c:v>
              </c:pt>
              <c:pt idx="1">
                <c:v>‏CICU</c:v>
              </c:pt>
              <c:pt idx="2">
                <c:v>‏ICUB</c:v>
              </c:pt>
              <c:pt idx="3">
                <c:v>‏PICU</c:v>
              </c:pt>
              <c:pt idx="4">
                <c:v>‏ICUA</c:v>
              </c:pt>
              <c:pt idx="5">
                <c:v>‏CCU</c:v>
              </c:pt>
              <c:pt idx="6">
                <c:v>‏دیالیز</c:v>
              </c:pt>
              <c:pt idx="7">
                <c:v>‏اورژانس</c:v>
              </c:pt>
              <c:pt idx="8">
                <c:v>‏آنژیوگرافی</c:v>
              </c:pt>
              <c:pt idx="9">
                <c:v>‏مردان C</c:v>
              </c:pt>
              <c:pt idx="10">
                <c:v>‏CCU ویژه</c:v>
              </c:pt>
              <c:pt idx="11">
                <c:v>‏NICU</c:v>
              </c:pt>
              <c:pt idx="12">
                <c:v>‏اطفال</c:v>
              </c:pt>
              <c:pt idx="13">
                <c:v>‏اکو تخصصی</c:v>
              </c:pt>
              <c:pt idx="14">
                <c:v>‏جراحی</c:v>
              </c:pt>
              <c:pt idx="15">
                <c:v>‏زنان</c:v>
              </c:pt>
              <c:pt idx="16">
                <c:v>‏پست آنژیو</c:v>
              </c:pt>
            </c:strLit>
          </c:cat>
          <c:val>
            <c:numLit>
              <c:formatCode>General</c:formatCode>
              <c:ptCount val="17"/>
              <c:pt idx="0">
                <c:v>0</c:v>
              </c:pt>
              <c:pt idx="1">
                <c:v>27.450980392156865</c:v>
              </c:pt>
              <c:pt idx="2">
                <c:v>28.571428571428569</c:v>
              </c:pt>
              <c:pt idx="3">
                <c:v>33.333333333333329</c:v>
              </c:pt>
              <c:pt idx="4">
                <c:v>40</c:v>
              </c:pt>
              <c:pt idx="5">
                <c:v>50</c:v>
              </c:pt>
              <c:pt idx="6">
                <c:v>50</c:v>
              </c:pt>
              <c:pt idx="7">
                <c:v>56.25</c:v>
              </c:pt>
              <c:pt idx="8">
                <c:v>62.5</c:v>
              </c:pt>
              <c:pt idx="9">
                <c:v>66.666666666666657</c:v>
              </c:pt>
              <c:pt idx="10">
                <c:v>100</c:v>
              </c:pt>
              <c:pt idx="11">
                <c:v>100</c:v>
              </c:pt>
              <c:pt idx="12">
                <c:v>100</c:v>
              </c:pt>
              <c:pt idx="13">
                <c:v>100</c:v>
              </c:pt>
              <c:pt idx="14">
                <c:v>100</c:v>
              </c:pt>
              <c:pt idx="15">
                <c:v>100</c:v>
              </c:pt>
              <c:pt idx="16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4EB-4748-BCA9-0ECFC7824D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0738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17324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‏فراوانی CPR در شیفت‌ها</c:v>
          </c:tx>
          <c:spPr>
            <a:solidFill>
              <a:srgbClr val="176B8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‏شب</c:v>
              </c:pt>
              <c:pt idx="1">
                <c:v>‏صبح</c:v>
              </c:pt>
              <c:pt idx="2">
                <c:v>‏عصر</c:v>
              </c:pt>
            </c:strLit>
          </c:cat>
          <c:val>
            <c:numLit>
              <c:formatCode>0</c:formatCode>
              <c:ptCount val="3"/>
              <c:pt idx="0">
                <c:v>60</c:v>
              </c:pt>
              <c:pt idx="1">
                <c:v>44</c:v>
              </c:pt>
              <c:pt idx="2">
                <c:v>35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36E-4106-8A77-64BF0AB948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00" b="1">
                <a:solidFill>
                  <a:srgbClr val="60738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0738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‏نرخ موفقیت شیفت‌ها</c:v>
          </c:tx>
          <c:spPr>
            <a:solidFill>
              <a:srgbClr val="00A6A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‏شب</c:v>
              </c:pt>
              <c:pt idx="1">
                <c:v>‏صبح</c:v>
              </c:pt>
              <c:pt idx="2">
                <c:v>‏عصر</c:v>
              </c:pt>
            </c:strLit>
          </c:cat>
          <c:val>
            <c:numLit>
              <c:formatCode>0"%"</c:formatCode>
              <c:ptCount val="3"/>
              <c:pt idx="0">
                <c:v>43.333333333333336</c:v>
              </c:pt>
              <c:pt idx="1">
                <c:v>59.090909090909093</c:v>
              </c:pt>
              <c:pt idx="2">
                <c:v>34.285714285714285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9C5-41E1-9C7F-D761FD2A31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  <c:txPr>
    <a:bodyPr/>
    <a:lstStyle/>
    <a:p>
      <a:pPr>
        <a:defRPr sz="1200"/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‏فراوانی حضور سوپروایزرها</c:v>
          </c:tx>
          <c:spPr>
            <a:solidFill>
              <a:srgbClr val="176B8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‏آقای زارعی</c:v>
              </c:pt>
              <c:pt idx="1">
                <c:v>‏خانم مرادی</c:v>
              </c:pt>
              <c:pt idx="2">
                <c:v>‏آقای امینی</c:v>
              </c:pt>
              <c:pt idx="3">
                <c:v>‏خانم سیف پور</c:v>
              </c:pt>
              <c:pt idx="4">
                <c:v>‏آقای حاجی علی</c:v>
              </c:pt>
              <c:pt idx="5">
                <c:v>‏خانم فانیان</c:v>
              </c:pt>
              <c:pt idx="6">
                <c:v>‏خانم رضائی</c:v>
              </c:pt>
              <c:pt idx="7">
                <c:v>‏خانم گشول</c:v>
              </c:pt>
            </c:strLit>
          </c:cat>
          <c:val>
            <c:numLit>
              <c:formatCode>General</c:formatCode>
              <c:ptCount val="8"/>
              <c:pt idx="0">
                <c:v>3</c:v>
              </c:pt>
              <c:pt idx="1">
                <c:v>11</c:v>
              </c:pt>
              <c:pt idx="2">
                <c:v>14</c:v>
              </c:pt>
              <c:pt idx="3">
                <c:v>14</c:v>
              </c:pt>
              <c:pt idx="4">
                <c:v>20</c:v>
              </c:pt>
              <c:pt idx="5">
                <c:v>21</c:v>
              </c:pt>
              <c:pt idx="6">
                <c:v>27</c:v>
              </c:pt>
              <c:pt idx="7">
                <c:v>29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7C-41E9-8EE7-1F5F597B1F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  <c:txPr>
    <a:bodyPr/>
    <a:lstStyle/>
    <a:p>
      <a:pPr>
        <a:defRPr sz="1400"/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‏نرخ موفقیت سوپروایزرها</c:v>
          </c:tx>
          <c:spPr>
            <a:solidFill>
              <a:srgbClr val="00A6A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‏آقای امینی</c:v>
              </c:pt>
              <c:pt idx="1">
                <c:v>‏خانم سیف پور</c:v>
              </c:pt>
              <c:pt idx="2">
                <c:v>‏خانم فانیان</c:v>
              </c:pt>
              <c:pt idx="3">
                <c:v>‏آقای حاجی علی</c:v>
              </c:pt>
              <c:pt idx="4">
                <c:v>‏خانم مرادی</c:v>
              </c:pt>
              <c:pt idx="5">
                <c:v>‏خانم گشول</c:v>
              </c:pt>
              <c:pt idx="6">
                <c:v>‏آقای زارعی</c:v>
              </c:pt>
              <c:pt idx="7">
                <c:v>‏خانم رضائی</c:v>
              </c:pt>
            </c:strLit>
          </c:cat>
          <c:val>
            <c:numLit>
              <c:formatCode>General</c:formatCode>
              <c:ptCount val="8"/>
              <c:pt idx="0">
                <c:v>21.428571428571427</c:v>
              </c:pt>
              <c:pt idx="1">
                <c:v>28.571428571428569</c:v>
              </c:pt>
              <c:pt idx="2">
                <c:v>38.095238095238095</c:v>
              </c:pt>
              <c:pt idx="3">
                <c:v>45</c:v>
              </c:pt>
              <c:pt idx="4">
                <c:v>45.454545454545453</c:v>
              </c:pt>
              <c:pt idx="5">
                <c:v>48.275862068965516</c:v>
              </c:pt>
              <c:pt idx="6">
                <c:v>66.666666666666657</c:v>
              </c:pt>
              <c:pt idx="7">
                <c:v>70.370370370370367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B8C-43F8-B7D0-2ACF2C699BB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60738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7324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9525">
      <a:solidFill>
        <a:srgbClr val="D7E1E8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accent">
            <a:extLst>
              <a:ext uri="{FF2B5EF4-FFF2-40B4-BE49-F238E27FC236}">
                <a16:creationId xmlns:a16="http://schemas.microsoft.com/office/drawing/2014/main" id="{3C143DBB-451C-4148-8709-10658C5F47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hospital">
            <a:extLst>
              <a:ext uri="{FF2B5EF4-FFF2-40B4-BE49-F238E27FC236}">
                <a16:creationId xmlns:a16="http://schemas.microsoft.com/office/drawing/2014/main" id="{600AE56B-808A-4D6B-853C-EB5DD45F3AEA}"/>
              </a:ext>
            </a:extLst>
          </p:cNvPr>
          <p:cNvSpPr>
            <a:spLocks noGrp="1"/>
          </p:cNvSpPr>
          <p:nvPr/>
        </p:nvSpPr>
        <p:spPr>
          <a:xfrm>
            <a:off x="2608007" y="734961"/>
            <a:ext cx="5715000" cy="6710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5000" lnSpcReduction="10000"/>
          </a:bodyPr>
          <a:lstStyle/>
          <a:p>
            <a:pPr algn="r">
              <a:defRPr sz="1875" b="1">
                <a:solidFill>
                  <a:srgbClr val="B9D3DF"/>
                </a:solidFill>
                <a:latin typeface="Tahoma"/>
                <a:ea typeface="Tahoma"/>
                <a:cs typeface="Tahoma"/>
              </a:defRPr>
            </a:pPr>
            <a:r>
              <a:rPr sz="2800" b="1" dirty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‏</a:t>
            </a:r>
            <a:r>
              <a:rPr sz="2800" b="1" dirty="0" err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بیمارستان</a:t>
            </a:r>
            <a:r>
              <a:rPr sz="2800" b="1" dirty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 </a:t>
            </a:r>
            <a:r>
              <a:rPr sz="2800" b="1" dirty="0" err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قلب</a:t>
            </a:r>
            <a:r>
              <a:rPr sz="2800" b="1" dirty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 </a:t>
            </a:r>
            <a:r>
              <a:rPr sz="2800" b="1" dirty="0" err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شهید</a:t>
            </a:r>
            <a:r>
              <a:rPr sz="2800" b="1" dirty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 </a:t>
            </a:r>
            <a:r>
              <a:rPr sz="2800" b="1" dirty="0" err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چمران</a:t>
            </a:r>
            <a:r>
              <a:rPr sz="2800" b="1" dirty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 </a:t>
            </a:r>
            <a:r>
              <a:rPr sz="2800" b="1" dirty="0" err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اصفهان</a:t>
            </a:r>
            <a:endParaRPr sz="2800" b="1" dirty="0">
              <a:solidFill>
                <a:srgbClr val="B9D3D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" name="main-title">
            <a:extLst>
              <a:ext uri="{FF2B5EF4-FFF2-40B4-BE49-F238E27FC236}">
                <a16:creationId xmlns:a16="http://schemas.microsoft.com/office/drawing/2014/main" id="{ED215207-AF2F-454D-B417-02CE0C42D167}"/>
              </a:ext>
            </a:extLst>
          </p:cNvPr>
          <p:cNvSpPr>
            <a:spLocks noGrp="1"/>
          </p:cNvSpPr>
          <p:nvPr/>
        </p:nvSpPr>
        <p:spPr>
          <a:xfrm>
            <a:off x="2952750" y="1952625"/>
            <a:ext cx="847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8526"/>
          </a:bodyPr>
          <a:lstStyle/>
          <a:p>
            <a:pPr algn="r" rtl="1">
              <a:defRPr sz="4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8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</a:t>
            </a:r>
            <a:r>
              <a:rPr sz="4800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گزارش</a:t>
            </a:r>
            <a:r>
              <a:rPr sz="48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عملکرد</a:t>
            </a:r>
            <a:r>
              <a:rPr sz="48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احیای</a:t>
            </a:r>
            <a:r>
              <a:rPr sz="48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قلبی</a:t>
            </a:r>
            <a:r>
              <a:rPr sz="48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ریوی</a:t>
            </a:r>
            <a:endParaRPr sz="4800" b="1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" name="cpr-title">
            <a:extLst>
              <a:ext uri="{FF2B5EF4-FFF2-40B4-BE49-F238E27FC236}">
                <a16:creationId xmlns:a16="http://schemas.microsoft.com/office/drawing/2014/main" id="{AE6271DA-BD47-4529-8560-AD54B5913D3E}"/>
              </a:ext>
            </a:extLst>
          </p:cNvPr>
          <p:cNvSpPr>
            <a:spLocks noGrp="1"/>
          </p:cNvSpPr>
          <p:nvPr/>
        </p:nvSpPr>
        <p:spPr>
          <a:xfrm>
            <a:off x="1661959" y="2004552"/>
            <a:ext cx="238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 rtl="1">
              <a:defRPr sz="4950" b="1">
                <a:solidFill>
                  <a:srgbClr val="00A6A6"/>
                </a:solidFill>
                <a:latin typeface="Tahoma"/>
                <a:ea typeface="Tahoma"/>
                <a:cs typeface="Tahoma"/>
              </a:defRPr>
            </a:pPr>
            <a:r>
              <a:rPr sz="4950" b="1" dirty="0">
                <a:solidFill>
                  <a:srgbClr val="00A6A6"/>
                </a:solidFill>
                <a:latin typeface="Tahoma"/>
                <a:ea typeface="Tahoma"/>
                <a:cs typeface="Tahoma"/>
              </a:rPr>
              <a:t>‏CPR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1B11D5A6-A675-4D69-BB8F-15C688D9E512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10744200" cy="19050"/>
          </a:xfrm>
          <a:prstGeom prst="rect">
            <a:avLst/>
          </a:prstGeom>
          <a:solidFill>
            <a:srgbClr val="3A566C"/>
          </a:solidFill>
          <a:ln w="0">
            <a:solidFill>
              <a:srgbClr val="3A566C"/>
            </a:solidFill>
            <a:prstDash val="solid"/>
          </a:ln>
        </p:spPr>
      </p:sp>
      <p:sp>
        <p:nvSpPr>
          <p:cNvPr id="6" name="period">
            <a:extLst>
              <a:ext uri="{FF2B5EF4-FFF2-40B4-BE49-F238E27FC236}">
                <a16:creationId xmlns:a16="http://schemas.microsoft.com/office/drawing/2014/main" id="{408C361D-3CD2-48B1-BD41-6318A6E4A977}"/>
              </a:ext>
            </a:extLst>
          </p:cNvPr>
          <p:cNvSpPr>
            <a:spLocks noGrp="1"/>
          </p:cNvSpPr>
          <p:nvPr/>
        </p:nvSpPr>
        <p:spPr>
          <a:xfrm>
            <a:off x="6858000" y="3476625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21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7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</a:t>
            </a:r>
            <a:r>
              <a:rPr sz="2175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سه</a:t>
            </a:r>
            <a:r>
              <a:rPr sz="217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ماهه</a:t>
            </a:r>
            <a:r>
              <a:rPr sz="217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اول</a:t>
            </a:r>
            <a:r>
              <a:rPr sz="217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سال</a:t>
            </a:r>
            <a:r>
              <a:rPr sz="2175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1405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D681817B-0786-4CE2-837C-38DC7D885E20}"/>
              </a:ext>
            </a:extLst>
          </p:cNvPr>
          <p:cNvSpPr>
            <a:spLocks noGrp="1"/>
          </p:cNvSpPr>
          <p:nvPr/>
        </p:nvSpPr>
        <p:spPr>
          <a:xfrm>
            <a:off x="1138084" y="56197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 rtl="1">
              <a:defRPr sz="1500" b="0">
                <a:solidFill>
                  <a:srgbClr val="B9D3DF"/>
                </a:solidFill>
                <a:latin typeface="Tahoma"/>
                <a:ea typeface="Tahoma"/>
                <a:cs typeface="Tahoma"/>
              </a:defRPr>
            </a:pPr>
            <a:r>
              <a:rPr sz="1500" b="0" dirty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‏</a:t>
            </a:r>
            <a:r>
              <a:rPr sz="1500" b="0" dirty="0" err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تهیه‌کننده</a:t>
            </a:r>
            <a:r>
              <a:rPr sz="1500" b="0" dirty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: </a:t>
            </a:r>
            <a:r>
              <a:rPr sz="1500" b="0" dirty="0" err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کمیته</a:t>
            </a:r>
            <a:r>
              <a:rPr sz="1500" b="0" dirty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 CPR</a:t>
            </a:r>
          </a:p>
        </p:txBody>
      </p:sp>
      <p:sp>
        <p:nvSpPr>
          <p:cNvPr id="8" name="event-count">
            <a:extLst>
              <a:ext uri="{FF2B5EF4-FFF2-40B4-BE49-F238E27FC236}">
                <a16:creationId xmlns:a16="http://schemas.microsoft.com/office/drawing/2014/main" id="{E949CE74-34CA-43A3-BB1E-4C24B1A7F175}"/>
              </a:ext>
            </a:extLst>
          </p:cNvPr>
          <p:cNvSpPr>
            <a:spLocks noGrp="1"/>
          </p:cNvSpPr>
          <p:nvPr/>
        </p:nvSpPr>
        <p:spPr>
          <a:xfrm>
            <a:off x="8001001" y="5619749"/>
            <a:ext cx="3429000" cy="5524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500" b="0">
                <a:solidFill>
                  <a:srgbClr val="B9D3DF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‏139 </a:t>
            </a:r>
            <a:r>
              <a:rPr sz="1600" b="0" dirty="0" err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رویداد</a:t>
            </a:r>
            <a:r>
              <a:rPr sz="1600" b="0" dirty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معتبر</a:t>
            </a:r>
            <a:endParaRPr sz="1600" b="0" dirty="0">
              <a:solidFill>
                <a:srgbClr val="B9D3DF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09725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rule">
            <a:extLst>
              <a:ext uri="{FF2B5EF4-FFF2-40B4-BE49-F238E27FC236}">
                <a16:creationId xmlns:a16="http://schemas.microsoft.com/office/drawing/2014/main" id="{5B4FFA8F-5DB1-44E2-89B4-CE04954BFB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265958F-A713-4BE0-90D8-0CE8FC2C46D4}"/>
              </a:ext>
            </a:extLst>
          </p:cNvPr>
          <p:cNvSpPr>
            <a:spLocks noGrp="1"/>
          </p:cNvSpPr>
          <p:nvPr/>
        </p:nvSpPr>
        <p:spPr>
          <a:xfrm>
            <a:off x="5524500" y="323850"/>
            <a:ext cx="598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r" rtl="1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داشبورد</a:t>
            </a: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مدیریتی</a:t>
            </a:r>
            <a:endParaRPr sz="337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4F5508D5-0891-4ED2-8BDA-B0C12A71104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 rtl="1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گزارش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مدیریت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CPR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7FC3B0AD-6A94-4F47-8933-48AB87493AF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7E1E8"/>
          </a:solidFill>
          <a:ln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F8366C99-1B30-41A1-97A1-12AB6B5105F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‏2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37E1D2A5-E0D7-4D14-9F49-04E725232DB0}"/>
              </a:ext>
            </a:extLst>
          </p:cNvPr>
          <p:cNvSpPr>
            <a:spLocks noGrp="1"/>
          </p:cNvSpPr>
          <p:nvPr/>
        </p:nvSpPr>
        <p:spPr>
          <a:xfrm>
            <a:off x="6667500" y="651510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کل رویدادها-card">
            <a:extLst>
              <a:ext uri="{FF2B5EF4-FFF2-40B4-BE49-F238E27FC236}">
                <a16:creationId xmlns:a16="http://schemas.microsoft.com/office/drawing/2014/main" id="{49456501-82BC-4A0F-88B1-F8014EF4742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2419350" cy="1123950"/>
          </a:xfrm>
          <a:prstGeom prst="roundRect">
            <a:avLst>
              <a:gd name="adj" fmla="val 5085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8" name="کل رویدادها-accent">
            <a:extLst>
              <a:ext uri="{FF2B5EF4-FFF2-40B4-BE49-F238E27FC236}">
                <a16:creationId xmlns:a16="http://schemas.microsoft.com/office/drawing/2014/main" id="{5EE5C0A1-5290-4E79-BBAD-056F61127992}"/>
              </a:ext>
            </a:extLst>
          </p:cNvPr>
          <p:cNvSpPr>
            <a:spLocks noGrp="1"/>
          </p:cNvSpPr>
          <p:nvPr/>
        </p:nvSpPr>
        <p:spPr>
          <a:xfrm>
            <a:off x="3038475" y="1028700"/>
            <a:ext cx="66675" cy="1123950"/>
          </a:xfrm>
          <a:prstGeom prst="rect">
            <a:avLst/>
          </a:prstGeom>
          <a:solidFill>
            <a:srgbClr val="12304A"/>
          </a:solidFill>
          <a:ln w="0">
            <a:solidFill>
              <a:srgbClr val="12304A"/>
            </a:solidFill>
            <a:prstDash val="solid"/>
          </a:ln>
        </p:spPr>
      </p:sp>
      <p:sp>
        <p:nvSpPr>
          <p:cNvPr id="9" name="کل رویدادها-label">
            <a:extLst>
              <a:ext uri="{FF2B5EF4-FFF2-40B4-BE49-F238E27FC236}">
                <a16:creationId xmlns:a16="http://schemas.microsoft.com/office/drawing/2014/main" id="{C9A6A8C0-B886-4A50-8B16-F1260CCF31CE}"/>
              </a:ext>
            </a:extLst>
          </p:cNvPr>
          <p:cNvSpPr>
            <a:spLocks noGrp="1"/>
          </p:cNvSpPr>
          <p:nvPr/>
        </p:nvSpPr>
        <p:spPr>
          <a:xfrm>
            <a:off x="857250" y="11620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‏کل رویدادها</a:t>
            </a:r>
          </a:p>
        </p:txBody>
      </p:sp>
      <p:sp>
        <p:nvSpPr>
          <p:cNvPr id="10" name="کل رویدادها-value">
            <a:extLst>
              <a:ext uri="{FF2B5EF4-FFF2-40B4-BE49-F238E27FC236}">
                <a16:creationId xmlns:a16="http://schemas.microsoft.com/office/drawing/2014/main" id="{E7A2C368-F194-4230-8F5E-49D74CA8D5BF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5238"/>
          </a:bodyPr>
          <a:lstStyle/>
          <a:p>
            <a:pPr algn="r">
              <a:defRPr sz="26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‏139</a:t>
            </a:r>
          </a:p>
        </p:txBody>
      </p:sp>
      <p:sp>
        <p:nvSpPr>
          <p:cNvPr id="11" name="کل رویدادها-note">
            <a:extLst>
              <a:ext uri="{FF2B5EF4-FFF2-40B4-BE49-F238E27FC236}">
                <a16:creationId xmlns:a16="http://schemas.microsoft.com/office/drawing/2014/main" id="{038710BE-C3E6-4B98-86C3-F5C3307F1DF8}"/>
              </a:ext>
            </a:extLst>
          </p:cNvPr>
          <p:cNvSpPr>
            <a:spLocks noGrp="1"/>
          </p:cNvSpPr>
          <p:nvPr/>
        </p:nvSpPr>
        <p:spPr>
          <a:xfrm>
            <a:off x="857250" y="1866900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89744" lnSpcReduction="10000"/>
          </a:bodyPr>
          <a:lstStyle/>
          <a:p>
            <a:pPr algn="r">
              <a:defRPr sz="9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‏پس از حذف رکورد تکراری</a:t>
            </a:r>
          </a:p>
        </p:txBody>
      </p:sp>
      <p:sp>
        <p:nvSpPr>
          <p:cNvPr id="12" name="احیای موفق-card">
            <a:extLst>
              <a:ext uri="{FF2B5EF4-FFF2-40B4-BE49-F238E27FC236}">
                <a16:creationId xmlns:a16="http://schemas.microsoft.com/office/drawing/2014/main" id="{395F808F-E0FD-48C9-9F2D-82C3647AFC79}"/>
              </a:ext>
            </a:extLst>
          </p:cNvPr>
          <p:cNvSpPr>
            <a:spLocks noGrp="1"/>
          </p:cNvSpPr>
          <p:nvPr/>
        </p:nvSpPr>
        <p:spPr>
          <a:xfrm>
            <a:off x="3257550" y="1028700"/>
            <a:ext cx="2419350" cy="1123950"/>
          </a:xfrm>
          <a:prstGeom prst="roundRect">
            <a:avLst>
              <a:gd name="adj" fmla="val 5085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3" name="احیای موفق-accent">
            <a:extLst>
              <a:ext uri="{FF2B5EF4-FFF2-40B4-BE49-F238E27FC236}">
                <a16:creationId xmlns:a16="http://schemas.microsoft.com/office/drawing/2014/main" id="{13914D28-0098-4455-B0B0-40D4054490E3}"/>
              </a:ext>
            </a:extLst>
          </p:cNvPr>
          <p:cNvSpPr>
            <a:spLocks noGrp="1"/>
          </p:cNvSpPr>
          <p:nvPr/>
        </p:nvSpPr>
        <p:spPr>
          <a:xfrm>
            <a:off x="5610225" y="1028700"/>
            <a:ext cx="66675" cy="1123950"/>
          </a:xfrm>
          <a:prstGeom prst="rect">
            <a:avLst/>
          </a:prstGeom>
          <a:solidFill>
            <a:srgbClr val="2E8B57"/>
          </a:solidFill>
          <a:ln w="0">
            <a:solidFill>
              <a:srgbClr val="2E8B57"/>
            </a:solidFill>
            <a:prstDash val="solid"/>
          </a:ln>
        </p:spPr>
      </p:sp>
      <p:sp>
        <p:nvSpPr>
          <p:cNvPr id="14" name="احیای موفق-label">
            <a:extLst>
              <a:ext uri="{FF2B5EF4-FFF2-40B4-BE49-F238E27FC236}">
                <a16:creationId xmlns:a16="http://schemas.microsoft.com/office/drawing/2014/main" id="{50CC1014-01B1-4026-A45C-772E578EBC20}"/>
              </a:ext>
            </a:extLst>
          </p:cNvPr>
          <p:cNvSpPr>
            <a:spLocks noGrp="1"/>
          </p:cNvSpPr>
          <p:nvPr/>
        </p:nvSpPr>
        <p:spPr>
          <a:xfrm>
            <a:off x="3429000" y="11620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‏احیای موفق</a:t>
            </a:r>
          </a:p>
        </p:txBody>
      </p:sp>
      <p:sp>
        <p:nvSpPr>
          <p:cNvPr id="15" name="احیای موفق-value">
            <a:extLst>
              <a:ext uri="{FF2B5EF4-FFF2-40B4-BE49-F238E27FC236}">
                <a16:creationId xmlns:a16="http://schemas.microsoft.com/office/drawing/2014/main" id="{972F4D61-91C3-4A3C-8C76-7ED5E002D319}"/>
              </a:ext>
            </a:extLst>
          </p:cNvPr>
          <p:cNvSpPr>
            <a:spLocks noGrp="1"/>
          </p:cNvSpPr>
          <p:nvPr/>
        </p:nvSpPr>
        <p:spPr>
          <a:xfrm>
            <a:off x="3429000" y="142875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5238"/>
          </a:bodyPr>
          <a:lstStyle/>
          <a:p>
            <a:pPr algn="r">
              <a:defRPr sz="2625" b="1">
                <a:solidFill>
                  <a:srgbClr val="2E8B57"/>
                </a:solidFill>
                <a:latin typeface="Tahoma"/>
                <a:ea typeface="Tahoma"/>
                <a:cs typeface="Tahoma"/>
              </a:defRPr>
            </a:pPr>
            <a:r>
              <a:rPr sz="2625" b="1" dirty="0">
                <a:solidFill>
                  <a:srgbClr val="2E8B57"/>
                </a:solidFill>
                <a:latin typeface="Tahoma"/>
                <a:ea typeface="Tahoma"/>
                <a:cs typeface="Tahoma"/>
              </a:rPr>
              <a:t>‏64</a:t>
            </a:r>
          </a:p>
        </p:txBody>
      </p:sp>
      <p:sp>
        <p:nvSpPr>
          <p:cNvPr id="16" name="احیای ناموفق-card">
            <a:extLst>
              <a:ext uri="{FF2B5EF4-FFF2-40B4-BE49-F238E27FC236}">
                <a16:creationId xmlns:a16="http://schemas.microsoft.com/office/drawing/2014/main" id="{65F9190E-525E-4626-99B2-D125F9D7E500}"/>
              </a:ext>
            </a:extLst>
          </p:cNvPr>
          <p:cNvSpPr>
            <a:spLocks noGrp="1"/>
          </p:cNvSpPr>
          <p:nvPr/>
        </p:nvSpPr>
        <p:spPr>
          <a:xfrm>
            <a:off x="5829300" y="1028700"/>
            <a:ext cx="2419350" cy="1123950"/>
          </a:xfrm>
          <a:prstGeom prst="roundRect">
            <a:avLst>
              <a:gd name="adj" fmla="val 5085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7" name="احیای ناموفق-accent">
            <a:extLst>
              <a:ext uri="{FF2B5EF4-FFF2-40B4-BE49-F238E27FC236}">
                <a16:creationId xmlns:a16="http://schemas.microsoft.com/office/drawing/2014/main" id="{BF37E2F9-0ABD-4A11-B242-EC31F031126A}"/>
              </a:ext>
            </a:extLst>
          </p:cNvPr>
          <p:cNvSpPr>
            <a:spLocks noGrp="1"/>
          </p:cNvSpPr>
          <p:nvPr/>
        </p:nvSpPr>
        <p:spPr>
          <a:xfrm>
            <a:off x="8181975" y="1028700"/>
            <a:ext cx="66675" cy="1123950"/>
          </a:xfrm>
          <a:prstGeom prst="rect">
            <a:avLst/>
          </a:prstGeom>
          <a:solidFill>
            <a:srgbClr val="C64B4B"/>
          </a:solidFill>
          <a:ln w="0">
            <a:solidFill>
              <a:srgbClr val="C64B4B"/>
            </a:solidFill>
            <a:prstDash val="solid"/>
          </a:ln>
        </p:spPr>
      </p:sp>
      <p:sp>
        <p:nvSpPr>
          <p:cNvPr id="18" name="احیای ناموفق-label">
            <a:extLst>
              <a:ext uri="{FF2B5EF4-FFF2-40B4-BE49-F238E27FC236}">
                <a16:creationId xmlns:a16="http://schemas.microsoft.com/office/drawing/2014/main" id="{65533F86-03ED-47FF-A0EB-171BC85572E0}"/>
              </a:ext>
            </a:extLst>
          </p:cNvPr>
          <p:cNvSpPr>
            <a:spLocks noGrp="1"/>
          </p:cNvSpPr>
          <p:nvPr/>
        </p:nvSpPr>
        <p:spPr>
          <a:xfrm>
            <a:off x="6000750" y="11620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‏احیای ناموفق</a:t>
            </a:r>
          </a:p>
        </p:txBody>
      </p:sp>
      <p:sp>
        <p:nvSpPr>
          <p:cNvPr id="19" name="احیای ناموفق-value">
            <a:extLst>
              <a:ext uri="{FF2B5EF4-FFF2-40B4-BE49-F238E27FC236}">
                <a16:creationId xmlns:a16="http://schemas.microsoft.com/office/drawing/2014/main" id="{7937B479-EC3F-430A-836E-B41F148B7DD0}"/>
              </a:ext>
            </a:extLst>
          </p:cNvPr>
          <p:cNvSpPr>
            <a:spLocks noGrp="1"/>
          </p:cNvSpPr>
          <p:nvPr/>
        </p:nvSpPr>
        <p:spPr>
          <a:xfrm>
            <a:off x="6000750" y="142875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5238"/>
          </a:bodyPr>
          <a:lstStyle/>
          <a:p>
            <a:pPr algn="r">
              <a:defRPr sz="2625" b="1">
                <a:solidFill>
                  <a:srgbClr val="C64B4B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‏75</a:t>
            </a:r>
          </a:p>
        </p:txBody>
      </p:sp>
      <p:sp>
        <p:nvSpPr>
          <p:cNvPr id="20" name="نرخ موفقیت-card">
            <a:extLst>
              <a:ext uri="{FF2B5EF4-FFF2-40B4-BE49-F238E27FC236}">
                <a16:creationId xmlns:a16="http://schemas.microsoft.com/office/drawing/2014/main" id="{6B95B360-9670-4166-A56A-BC2F0B832943}"/>
              </a:ext>
            </a:extLst>
          </p:cNvPr>
          <p:cNvSpPr>
            <a:spLocks noGrp="1"/>
          </p:cNvSpPr>
          <p:nvPr/>
        </p:nvSpPr>
        <p:spPr>
          <a:xfrm>
            <a:off x="8401050" y="1028700"/>
            <a:ext cx="2419350" cy="1123950"/>
          </a:xfrm>
          <a:prstGeom prst="roundRect">
            <a:avLst>
              <a:gd name="adj" fmla="val 5085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21" name="نرخ موفقیت-accent">
            <a:extLst>
              <a:ext uri="{FF2B5EF4-FFF2-40B4-BE49-F238E27FC236}">
                <a16:creationId xmlns:a16="http://schemas.microsoft.com/office/drawing/2014/main" id="{2F06FAA6-18BB-4AB1-A004-604868ED7F7B}"/>
              </a:ext>
            </a:extLst>
          </p:cNvPr>
          <p:cNvSpPr>
            <a:spLocks noGrp="1"/>
          </p:cNvSpPr>
          <p:nvPr/>
        </p:nvSpPr>
        <p:spPr>
          <a:xfrm>
            <a:off x="10753725" y="1028700"/>
            <a:ext cx="66675" cy="112395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2" name="نرخ موفقیت-label">
            <a:extLst>
              <a:ext uri="{FF2B5EF4-FFF2-40B4-BE49-F238E27FC236}">
                <a16:creationId xmlns:a16="http://schemas.microsoft.com/office/drawing/2014/main" id="{43D27ADC-92C4-4AE3-AA02-632D946F18B6}"/>
              </a:ext>
            </a:extLst>
          </p:cNvPr>
          <p:cNvSpPr>
            <a:spLocks noGrp="1"/>
          </p:cNvSpPr>
          <p:nvPr/>
        </p:nvSpPr>
        <p:spPr>
          <a:xfrm>
            <a:off x="8572500" y="11620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‏نرخ موفقیت</a:t>
            </a:r>
          </a:p>
        </p:txBody>
      </p:sp>
      <p:sp>
        <p:nvSpPr>
          <p:cNvPr id="23" name="نرخ موفقیت-value">
            <a:extLst>
              <a:ext uri="{FF2B5EF4-FFF2-40B4-BE49-F238E27FC236}">
                <a16:creationId xmlns:a16="http://schemas.microsoft.com/office/drawing/2014/main" id="{4727A166-C801-4F8B-8982-9D47C747232E}"/>
              </a:ext>
            </a:extLst>
          </p:cNvPr>
          <p:cNvSpPr>
            <a:spLocks noGrp="1"/>
          </p:cNvSpPr>
          <p:nvPr/>
        </p:nvSpPr>
        <p:spPr>
          <a:xfrm>
            <a:off x="8572500" y="142875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5238"/>
          </a:bodyPr>
          <a:lstStyle/>
          <a:p>
            <a:pPr algn="r">
              <a:defRPr sz="2625" b="1">
                <a:solidFill>
                  <a:srgbClr val="00A6A6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00A6A6"/>
                </a:solidFill>
                <a:latin typeface="Tahoma"/>
                <a:ea typeface="Tahoma"/>
                <a:cs typeface="Tahoma"/>
              </a:rPr>
              <a:t>‏46%</a:t>
            </a:r>
          </a:p>
        </p:txBody>
      </p:sp>
      <p:sp>
        <p:nvSpPr>
          <p:cNvPr id="24" name="روند نرخ موفقیت ماهانه-chart-title">
            <a:extLst>
              <a:ext uri="{FF2B5EF4-FFF2-40B4-BE49-F238E27FC236}">
                <a16:creationId xmlns:a16="http://schemas.microsoft.com/office/drawing/2014/main" id="{9AF5287B-3EED-4B3F-BE6A-0DAAC225A4D0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‏روند نرخ موفقیت ماهانه</a:t>
            </a:r>
          </a:p>
        </p:txBody>
      </p:sp>
      <p:graphicFrame>
        <p:nvGraphicFramePr>
          <p:cNvPr id="52" name="Chart"/>
          <p:cNvGraphicFramePr/>
          <p:nvPr>
            <p:extLst>
              <p:ext uri="{D42A27DB-BD31-4B8C-83A1-F6EECF244321}">
                <p14:modId xmlns:p14="http://schemas.microsoft.com/office/powerpoint/2010/main" val="3387109813"/>
              </p:ext>
            </p:extLst>
          </p:nvPr>
        </p:nvGraphicFramePr>
        <p:xfrm>
          <a:off x="685800" y="2647950"/>
          <a:ext cx="695325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ترکیب نتایج-chart-title">
            <a:extLst>
              <a:ext uri="{FF2B5EF4-FFF2-40B4-BE49-F238E27FC236}">
                <a16:creationId xmlns:a16="http://schemas.microsoft.com/office/drawing/2014/main" id="{7938ACFE-6C81-42A8-B81D-2295E039C5C6}"/>
              </a:ext>
            </a:extLst>
          </p:cNvPr>
          <p:cNvSpPr>
            <a:spLocks noGrp="1"/>
          </p:cNvSpPr>
          <p:nvPr/>
        </p:nvSpPr>
        <p:spPr>
          <a:xfrm>
            <a:off x="7886700" y="23241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‏ترکیب نتایج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="7886700" y="2647950"/>
          <a:ext cx="361950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510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rule">
            <a:extLst>
              <a:ext uri="{FF2B5EF4-FFF2-40B4-BE49-F238E27FC236}">
                <a16:creationId xmlns:a16="http://schemas.microsoft.com/office/drawing/2014/main" id="{C4812A87-28D8-4FF1-9AC0-8C2364C45F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EF7E36B-ED7C-425E-8AF4-325843BD6159}"/>
              </a:ext>
            </a:extLst>
          </p:cNvPr>
          <p:cNvSpPr>
            <a:spLocks noGrp="1"/>
          </p:cNvSpPr>
          <p:nvPr/>
        </p:nvSpPr>
        <p:spPr>
          <a:xfrm>
            <a:off x="5524500" y="323850"/>
            <a:ext cx="598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r" rtl="1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نتیجه</a:t>
            </a: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و 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حجم</a:t>
            </a: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رویدادها</a:t>
            </a:r>
            <a:endParaRPr sz="337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68D9D60F-F8B2-483D-8916-54F355C39F3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 rtl="1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گزارش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مدیریت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CPR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76ADDBC1-3A6F-46AE-8E31-8D4AEE806BE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7E1E8"/>
          </a:solidFill>
          <a:ln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BC3E5538-D187-433E-AEAD-8362CF67E930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‏3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498A448A-651C-4C1D-9E4B-D6E1502FC0BF}"/>
              </a:ext>
            </a:extLst>
          </p:cNvPr>
          <p:cNvSpPr>
            <a:spLocks noGrp="1"/>
          </p:cNvSpPr>
          <p:nvPr/>
        </p:nvSpPr>
        <p:spPr>
          <a:xfrm>
            <a:off x="6667500" y="651510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نتیجه احیا-chart-title">
            <a:extLst>
              <a:ext uri="{FF2B5EF4-FFF2-40B4-BE49-F238E27FC236}">
                <a16:creationId xmlns:a16="http://schemas.microsoft.com/office/drawing/2014/main" id="{5013F165-C64B-45A1-987D-4D8676861C0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520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‏نتیجه احیا</a:t>
            </a:r>
          </a:p>
        </p:txBody>
      </p:sp>
      <p:graphicFrame>
        <p:nvGraphicFramePr>
          <p:cNvPr id="25" name="Chart"/>
          <p:cNvGraphicFramePr/>
          <p:nvPr>
            <p:extLst>
              <p:ext uri="{D42A27DB-BD31-4B8C-83A1-F6EECF244321}">
                <p14:modId xmlns:p14="http://schemas.microsoft.com/office/powerpoint/2010/main" val="2353946455"/>
              </p:ext>
            </p:extLst>
          </p:nvPr>
        </p:nvGraphicFramePr>
        <p:xfrm>
          <a:off x="685800" y="1390650"/>
          <a:ext cx="520065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تعداد رویدادهای ماهانه-chart-title">
            <a:extLst>
              <a:ext uri="{FF2B5EF4-FFF2-40B4-BE49-F238E27FC236}">
                <a16:creationId xmlns:a16="http://schemas.microsoft.com/office/drawing/2014/main" id="{DACA7523-A9E6-48F3-90CB-DA351FB79ABD}"/>
              </a:ext>
            </a:extLst>
          </p:cNvPr>
          <p:cNvSpPr>
            <a:spLocks noGrp="1"/>
          </p:cNvSpPr>
          <p:nvPr/>
        </p:nvSpPr>
        <p:spPr>
          <a:xfrm>
            <a:off x="6305550" y="1066800"/>
            <a:ext cx="520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‏تعداد رویدادهای ماهانه</a:t>
            </a:r>
          </a:p>
        </p:txBody>
      </p:sp>
      <p:graphicFrame>
        <p:nvGraphicFramePr>
          <p:cNvPr id="27" name="Chart"/>
          <p:cNvGraphicFramePr/>
          <p:nvPr>
            <p:extLst>
              <p:ext uri="{D42A27DB-BD31-4B8C-83A1-F6EECF244321}">
                <p14:modId xmlns:p14="http://schemas.microsoft.com/office/powerpoint/2010/main" val="866847535"/>
              </p:ext>
            </p:extLst>
          </p:nvPr>
        </p:nvGraphicFramePr>
        <p:xfrm>
          <a:off x="6305550" y="1390650"/>
          <a:ext cx="520065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بیشترین حجم بخش-insight">
            <a:extLst>
              <a:ext uri="{FF2B5EF4-FFF2-40B4-BE49-F238E27FC236}">
                <a16:creationId xmlns:a16="http://schemas.microsoft.com/office/drawing/2014/main" id="{1C2E6252-0E8B-4F12-8FDC-880C605CD21C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3714750" cy="704850"/>
          </a:xfrm>
          <a:prstGeom prst="roundRect">
            <a:avLst>
              <a:gd name="adj" fmla="val 8108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2" name="بیشترین حجم بخش-bar">
            <a:extLst>
              <a:ext uri="{FF2B5EF4-FFF2-40B4-BE49-F238E27FC236}">
                <a16:creationId xmlns:a16="http://schemas.microsoft.com/office/drawing/2014/main" id="{CCE5C140-45A5-417D-9A58-D566CB6CCA49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57150" cy="704850"/>
          </a:xfrm>
          <a:prstGeom prst="rect">
            <a:avLst/>
          </a:prstGeom>
          <a:solidFill>
            <a:srgbClr val="176B87"/>
          </a:solidFill>
          <a:ln w="0">
            <a:solidFill>
              <a:srgbClr val="176B87"/>
            </a:solidFill>
            <a:prstDash val="solid"/>
          </a:ln>
        </p:spPr>
      </p:sp>
      <p:sp>
        <p:nvSpPr>
          <p:cNvPr id="13" name="بیشترین حجم بخش-text">
            <a:extLst>
              <a:ext uri="{FF2B5EF4-FFF2-40B4-BE49-F238E27FC236}">
                <a16:creationId xmlns:a16="http://schemas.microsoft.com/office/drawing/2014/main" id="{DE7A3872-FD2D-46A1-92B9-E31E9DD4DD5C}"/>
              </a:ext>
            </a:extLst>
          </p:cNvPr>
          <p:cNvSpPr>
            <a:spLocks noGrp="1"/>
          </p:cNvSpPr>
          <p:nvPr/>
        </p:nvSpPr>
        <p:spPr>
          <a:xfrm>
            <a:off x="876300" y="529590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‏بیشترین حجم بخش: CICU، 51 رویداد</a:t>
            </a:r>
          </a:p>
        </p:txBody>
      </p:sp>
      <p:sp>
        <p:nvSpPr>
          <p:cNvPr id="14" name="پرتراکم‌ترین شیفت-insight">
            <a:extLst>
              <a:ext uri="{FF2B5EF4-FFF2-40B4-BE49-F238E27FC236}">
                <a16:creationId xmlns:a16="http://schemas.microsoft.com/office/drawing/2014/main" id="{75885544-CF67-434C-95FE-5BF358A1D146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3714750" cy="704850"/>
          </a:xfrm>
          <a:prstGeom prst="roundRect">
            <a:avLst>
              <a:gd name="adj" fmla="val 8108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5" name="پرتراکم‌ترین شیفت-bar">
            <a:extLst>
              <a:ext uri="{FF2B5EF4-FFF2-40B4-BE49-F238E27FC236}">
                <a16:creationId xmlns:a16="http://schemas.microsoft.com/office/drawing/2014/main" id="{ABB81248-FC96-41DD-AD17-BAD8DAC04609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57150" cy="70485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16" name="پرتراکم‌ترین شیفت-text">
            <a:extLst>
              <a:ext uri="{FF2B5EF4-FFF2-40B4-BE49-F238E27FC236}">
                <a16:creationId xmlns:a16="http://schemas.microsoft.com/office/drawing/2014/main" id="{9A0516CD-F72F-4F23-84F9-8ABC8FE8F0E3}"/>
              </a:ext>
            </a:extLst>
          </p:cNvPr>
          <p:cNvSpPr>
            <a:spLocks noGrp="1"/>
          </p:cNvSpPr>
          <p:nvPr/>
        </p:nvSpPr>
        <p:spPr>
          <a:xfrm>
            <a:off x="876300" y="529590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پرتراکم‌ترین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شیفت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: 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شب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، 60 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رویداد</a:t>
            </a:r>
            <a:endParaRPr sz="1350" b="1" dirty="0">
              <a:solidFill>
                <a:srgbClr val="17324D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outcome-note">
            <a:extLst>
              <a:ext uri="{FF2B5EF4-FFF2-40B4-BE49-F238E27FC236}">
                <a16:creationId xmlns:a16="http://schemas.microsoft.com/office/drawing/2014/main" id="{E78F521C-753F-4847-8E32-DC913ACB79D7}"/>
              </a:ext>
            </a:extLst>
          </p:cNvPr>
          <p:cNvSpPr>
            <a:spLocks noGrp="1"/>
          </p:cNvSpPr>
          <p:nvPr/>
        </p:nvSpPr>
        <p:spPr>
          <a:xfrm>
            <a:off x="4762500" y="5314950"/>
            <a:ext cx="6743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500" b="1">
                <a:solidFill>
                  <a:srgbClr val="C64B4B"/>
                </a:solidFill>
                <a:latin typeface="Tahoma"/>
                <a:ea typeface="Tahoma"/>
                <a:cs typeface="Tahoma"/>
              </a:defRPr>
            </a:pPr>
            <a:r>
              <a:rPr sz="1500" b="1" dirty="0">
                <a:solidFill>
                  <a:srgbClr val="C64B4B"/>
                </a:solidFill>
                <a:latin typeface="Tahoma"/>
                <a:ea typeface="Tahoma"/>
                <a:cs typeface="Tahoma"/>
              </a:rPr>
              <a:t>‏11 </a:t>
            </a:r>
            <a:r>
              <a:rPr sz="1500" b="1" dirty="0" err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مورد</a:t>
            </a:r>
            <a:r>
              <a:rPr sz="1500" b="1" dirty="0">
                <a:solidFill>
                  <a:srgbClr val="C64B4B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فاصله</a:t>
            </a:r>
            <a:r>
              <a:rPr sz="1500" b="1" dirty="0">
                <a:solidFill>
                  <a:srgbClr val="C64B4B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میان</a:t>
            </a:r>
            <a:r>
              <a:rPr sz="1500" b="1" dirty="0">
                <a:solidFill>
                  <a:srgbClr val="C64B4B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احیای</a:t>
            </a:r>
            <a:r>
              <a:rPr sz="1500" b="1" dirty="0">
                <a:solidFill>
                  <a:srgbClr val="C64B4B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ناموفق</a:t>
            </a:r>
            <a:r>
              <a:rPr sz="1500" b="1" dirty="0">
                <a:solidFill>
                  <a:srgbClr val="C64B4B"/>
                </a:solidFill>
                <a:latin typeface="Tahoma"/>
                <a:ea typeface="Tahoma"/>
                <a:cs typeface="Tahoma"/>
              </a:rPr>
              <a:t> و </a:t>
            </a:r>
            <a:r>
              <a:rPr sz="1500" b="1" dirty="0" err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موفق</a:t>
            </a:r>
            <a:r>
              <a:rPr sz="1500" b="1" dirty="0">
                <a:solidFill>
                  <a:srgbClr val="C64B4B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ثبت</a:t>
            </a:r>
            <a:r>
              <a:rPr sz="1500" b="1" dirty="0">
                <a:solidFill>
                  <a:srgbClr val="C64B4B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شده</a:t>
            </a:r>
            <a:r>
              <a:rPr sz="1500" b="1" dirty="0">
                <a:solidFill>
                  <a:srgbClr val="C64B4B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است</a:t>
            </a:r>
            <a:r>
              <a:rPr sz="1500" b="1" dirty="0">
                <a:solidFill>
                  <a:srgbClr val="C64B4B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25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rule">
            <a:extLst>
              <a:ext uri="{FF2B5EF4-FFF2-40B4-BE49-F238E27FC236}">
                <a16:creationId xmlns:a16="http://schemas.microsoft.com/office/drawing/2014/main" id="{EBB602BF-5D8D-4FED-8AA1-37CB4DFAD7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08A6D3C-08DB-4903-A08C-8D179883F645}"/>
              </a:ext>
            </a:extLst>
          </p:cNvPr>
          <p:cNvSpPr>
            <a:spLocks noGrp="1"/>
          </p:cNvSpPr>
          <p:nvPr/>
        </p:nvSpPr>
        <p:spPr>
          <a:xfrm>
            <a:off x="5524500" y="323850"/>
            <a:ext cx="598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‏عملکرد ماهانه</a:t>
            </a: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F9B55E71-E1DB-4882-91E6-A49DE90270BC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 rtl="1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گزارش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مدیریت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CPR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4BDD6B63-F098-451F-BD47-8B39615676B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7E1E8"/>
          </a:solidFill>
          <a:ln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71A2373D-C5EA-4BE1-94EE-EC6ED9E3E40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‏4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DC1C77C4-3281-40C2-90E9-07F2492B4814}"/>
              </a:ext>
            </a:extLst>
          </p:cNvPr>
          <p:cNvSpPr>
            <a:spLocks noGrp="1"/>
          </p:cNvSpPr>
          <p:nvPr/>
        </p:nvSpPr>
        <p:spPr>
          <a:xfrm>
            <a:off x="6667500" y="651510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نرخ موفقیت ماهانه-chart-title">
            <a:extLst>
              <a:ext uri="{FF2B5EF4-FFF2-40B4-BE49-F238E27FC236}">
                <a16:creationId xmlns:a16="http://schemas.microsoft.com/office/drawing/2014/main" id="{03B07F85-AF4D-4DCC-A9D0-6D546A24F0EE}"/>
              </a:ext>
            </a:extLst>
          </p:cNvPr>
          <p:cNvSpPr>
            <a:spLocks noGrp="1"/>
          </p:cNvSpPr>
          <p:nvPr/>
        </p:nvSpPr>
        <p:spPr>
          <a:xfrm>
            <a:off x="4552950" y="112395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ماهانه</a:t>
            </a:r>
          </a:p>
        </p:txBody>
      </p:sp>
      <p:graphicFrame>
        <p:nvGraphicFramePr>
          <p:cNvPr id="26" name="Chart"/>
          <p:cNvGraphicFramePr/>
          <p:nvPr>
            <p:extLst>
              <p:ext uri="{D42A27DB-BD31-4B8C-83A1-F6EECF244321}">
                <p14:modId xmlns:p14="http://schemas.microsoft.com/office/powerpoint/2010/main" val="4119633709"/>
              </p:ext>
            </p:extLst>
          </p:nvPr>
        </p:nvGraphicFramePr>
        <p:xfrm>
          <a:off x="4552950" y="1447800"/>
          <a:ext cx="6953250" cy="377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بهترین ماه-insight">
            <a:extLst>
              <a:ext uri="{FF2B5EF4-FFF2-40B4-BE49-F238E27FC236}">
                <a16:creationId xmlns:a16="http://schemas.microsoft.com/office/drawing/2014/main" id="{226358A3-2F37-41F0-9B8D-EAEAD2EB9335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3714750" cy="704850"/>
          </a:xfrm>
          <a:prstGeom prst="roundRect">
            <a:avLst>
              <a:gd name="adj" fmla="val 8108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0" name="بهترین ماه-bar">
            <a:extLst>
              <a:ext uri="{FF2B5EF4-FFF2-40B4-BE49-F238E27FC236}">
                <a16:creationId xmlns:a16="http://schemas.microsoft.com/office/drawing/2014/main" id="{9B151625-0686-4F6C-9767-5BBE9169BDA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57150" cy="704850"/>
          </a:xfrm>
          <a:prstGeom prst="rect">
            <a:avLst/>
          </a:prstGeom>
          <a:solidFill>
            <a:srgbClr val="2E8B57"/>
          </a:solidFill>
          <a:ln w="0">
            <a:solidFill>
              <a:srgbClr val="2E8B57"/>
            </a:solidFill>
            <a:prstDash val="solid"/>
          </a:ln>
        </p:spPr>
      </p:sp>
      <p:sp>
        <p:nvSpPr>
          <p:cNvPr id="11" name="بهترین ماه-text">
            <a:extLst>
              <a:ext uri="{FF2B5EF4-FFF2-40B4-BE49-F238E27FC236}">
                <a16:creationId xmlns:a16="http://schemas.microsoft.com/office/drawing/2014/main" id="{18EAA6C9-7429-4693-810D-A6C8F43C15D0}"/>
              </a:ext>
            </a:extLst>
          </p:cNvPr>
          <p:cNvSpPr>
            <a:spLocks noGrp="1"/>
          </p:cNvSpPr>
          <p:nvPr/>
        </p:nvSpPr>
        <p:spPr>
          <a:xfrm>
            <a:off x="876300" y="146685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بهترین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ماه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: 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اردیبهشت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، 52.4%</a:t>
            </a:r>
          </a:p>
        </p:txBody>
      </p:sp>
      <p:sp>
        <p:nvSpPr>
          <p:cNvPr id="12" name="کمترین نرخ-insight">
            <a:extLst>
              <a:ext uri="{FF2B5EF4-FFF2-40B4-BE49-F238E27FC236}">
                <a16:creationId xmlns:a16="http://schemas.microsoft.com/office/drawing/2014/main" id="{41F28712-4B8F-42DD-B7AF-828935A4B21E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3714750" cy="704850"/>
          </a:xfrm>
          <a:prstGeom prst="roundRect">
            <a:avLst>
              <a:gd name="adj" fmla="val 8108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3" name="کمترین نرخ-bar">
            <a:extLst>
              <a:ext uri="{FF2B5EF4-FFF2-40B4-BE49-F238E27FC236}">
                <a16:creationId xmlns:a16="http://schemas.microsoft.com/office/drawing/2014/main" id="{8FFAF24E-1331-42B6-86E0-B01B5086987A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57150" cy="704850"/>
          </a:xfrm>
          <a:prstGeom prst="rect">
            <a:avLst/>
          </a:prstGeom>
          <a:solidFill>
            <a:srgbClr val="C64B4B"/>
          </a:solidFill>
          <a:ln w="0">
            <a:solidFill>
              <a:srgbClr val="C64B4B"/>
            </a:solidFill>
            <a:prstDash val="solid"/>
          </a:ln>
        </p:spPr>
      </p:sp>
      <p:sp>
        <p:nvSpPr>
          <p:cNvPr id="14" name="کمترین نرخ-text">
            <a:extLst>
              <a:ext uri="{FF2B5EF4-FFF2-40B4-BE49-F238E27FC236}">
                <a16:creationId xmlns:a16="http://schemas.microsoft.com/office/drawing/2014/main" id="{0E4EC293-7018-4F54-91B7-564D5F2D9AFC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کمترین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نرخ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: 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خرداد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، 40.9%</a:t>
            </a:r>
          </a:p>
        </p:txBody>
      </p:sp>
      <p:sp>
        <p:nvSpPr>
          <p:cNvPr id="15" name="میانگین کل-insight">
            <a:extLst>
              <a:ext uri="{FF2B5EF4-FFF2-40B4-BE49-F238E27FC236}">
                <a16:creationId xmlns:a16="http://schemas.microsoft.com/office/drawing/2014/main" id="{3CED573C-2A17-4F5F-9D70-652DF90B8968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3714750" cy="704850"/>
          </a:xfrm>
          <a:prstGeom prst="roundRect">
            <a:avLst>
              <a:gd name="adj" fmla="val 8108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6" name="میانگین کل-bar">
            <a:extLst>
              <a:ext uri="{FF2B5EF4-FFF2-40B4-BE49-F238E27FC236}">
                <a16:creationId xmlns:a16="http://schemas.microsoft.com/office/drawing/2014/main" id="{27D06A0E-571A-49F2-991A-CA8B343E92E8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57150" cy="70485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17" name="میانگین کل-text">
            <a:extLst>
              <a:ext uri="{FF2B5EF4-FFF2-40B4-BE49-F238E27FC236}">
                <a16:creationId xmlns:a16="http://schemas.microsoft.com/office/drawing/2014/main" id="{1FE50F89-59F6-4611-BB56-DB5E48CE54B6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میانگین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350" b="1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کل</a:t>
            </a:r>
            <a:r>
              <a:rPr sz="1350" b="1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: 46%</a:t>
            </a:r>
          </a:p>
        </p:txBody>
      </p:sp>
      <p:sp>
        <p:nvSpPr>
          <p:cNvPr id="18" name="monthly-takeaway">
            <a:extLst>
              <a:ext uri="{FF2B5EF4-FFF2-40B4-BE49-F238E27FC236}">
                <a16:creationId xmlns:a16="http://schemas.microsoft.com/office/drawing/2014/main" id="{369B66F0-D1B0-45CB-812D-050404AC464B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3714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5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نوسان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ماهانه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نشان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می‌دهد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پایش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فرآیند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و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ترکیب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تیم‌ها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باید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در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سطح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ماه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و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شیفت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ادامه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یابد</a:t>
            </a:r>
            <a:r>
              <a:rPr sz="15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2417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rule">
            <a:extLst>
              <a:ext uri="{FF2B5EF4-FFF2-40B4-BE49-F238E27FC236}">
                <a16:creationId xmlns:a16="http://schemas.microsoft.com/office/drawing/2014/main" id="{70C3BA3A-FB6B-4540-9EA4-F37EB7595D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56CBF4C-747A-4510-A352-79E9ABB0D79E}"/>
              </a:ext>
            </a:extLst>
          </p:cNvPr>
          <p:cNvSpPr>
            <a:spLocks noGrp="1"/>
          </p:cNvSpPr>
          <p:nvPr/>
        </p:nvSpPr>
        <p:spPr>
          <a:xfrm>
            <a:off x="5524500" y="323850"/>
            <a:ext cx="598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‏نمای سنی بیماران</a:t>
            </a: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5EF97C5D-4FC1-4BA5-9627-FB8A723DEF7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 rtl="1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گزارش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مدیریت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CPR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8AA93C91-C96F-41C0-AD61-495AD639D76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7E1E8"/>
          </a:solidFill>
          <a:ln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119E9AC6-4226-45A1-8D7E-B3CE71DA9C0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‏5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26177CD4-6E89-41F0-BAD0-64E9E6527AD3}"/>
              </a:ext>
            </a:extLst>
          </p:cNvPr>
          <p:cNvSpPr>
            <a:spLocks noGrp="1"/>
          </p:cNvSpPr>
          <p:nvPr/>
        </p:nvSpPr>
        <p:spPr>
          <a:xfrm>
            <a:off x="6667500" y="651510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 rtl="1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بیمارستان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قلب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شهید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چمران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اصفهان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|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سه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ماهه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اول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۱۴۰۵</a:t>
            </a:r>
          </a:p>
        </p:txBody>
      </p:sp>
      <p:sp>
        <p:nvSpPr>
          <p:cNvPr id="7" name="توزیع گروه‌های سنی-chart-title">
            <a:extLst>
              <a:ext uri="{FF2B5EF4-FFF2-40B4-BE49-F238E27FC236}">
                <a16:creationId xmlns:a16="http://schemas.microsoft.com/office/drawing/2014/main" id="{77FA55E4-C917-4B2B-A4C6-0A5EB2563C3F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‏توزیع گروه‌های سنی</a:t>
            </a: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1631785079"/>
              </p:ext>
            </p:extLst>
          </p:nvPr>
        </p:nvGraphicFramePr>
        <p:xfrm>
          <a:off x="685800" y="1390650"/>
          <a:ext cx="5238750" cy="401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نرخ موفقیت گروه‌های سنی-chart-title">
            <a:extLst>
              <a:ext uri="{FF2B5EF4-FFF2-40B4-BE49-F238E27FC236}">
                <a16:creationId xmlns:a16="http://schemas.microsoft.com/office/drawing/2014/main" id="{DEFB20E8-C18E-4264-81A9-3A78E68C8B16}"/>
              </a:ext>
            </a:extLst>
          </p:cNvPr>
          <p:cNvSpPr>
            <a:spLocks noGrp="1"/>
          </p:cNvSpPr>
          <p:nvPr/>
        </p:nvSpPr>
        <p:spPr>
          <a:xfrm>
            <a:off x="6267450" y="10668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گروه‌های سنی</a:t>
            </a:r>
          </a:p>
        </p:txBody>
      </p:sp>
      <p:graphicFrame>
        <p:nvGraphicFramePr>
          <p:cNvPr id="22" name="Chart"/>
          <p:cNvGraphicFramePr/>
          <p:nvPr>
            <p:extLst>
              <p:ext uri="{D42A27DB-BD31-4B8C-83A1-F6EECF244321}">
                <p14:modId xmlns:p14="http://schemas.microsoft.com/office/powerpoint/2010/main" val="2436723646"/>
              </p:ext>
            </p:extLst>
          </p:nvPr>
        </p:nvGraphicFramePr>
        <p:xfrm>
          <a:off x="6267450" y="1390650"/>
          <a:ext cx="5238750" cy="401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akeaway-box">
            <a:extLst>
              <a:ext uri="{FF2B5EF4-FFF2-40B4-BE49-F238E27FC236}">
                <a16:creationId xmlns:a16="http://schemas.microsoft.com/office/drawing/2014/main" id="{7E59AE6A-6303-404F-B528-F8129DBB859E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20400" cy="68580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>
              <a:ext uri="{FF2B5EF4-FFF2-40B4-BE49-F238E27FC236}">
                <a16:creationId xmlns:a16="http://schemas.microsoft.com/office/drawing/2014/main" id="{69A9BB01-DB7B-49B4-8FD8-99B8849567B8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میانگین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سن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63.2 و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میانه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سن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68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سال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است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58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rule">
            <a:extLst>
              <a:ext uri="{FF2B5EF4-FFF2-40B4-BE49-F238E27FC236}">
                <a16:creationId xmlns:a16="http://schemas.microsoft.com/office/drawing/2014/main" id="{DC977907-68BC-43F8-827C-412652F745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85E87EC-E31F-4D24-BF6D-C4439CFA914E}"/>
              </a:ext>
            </a:extLst>
          </p:cNvPr>
          <p:cNvSpPr>
            <a:spLocks noGrp="1"/>
          </p:cNvSpPr>
          <p:nvPr/>
        </p:nvSpPr>
        <p:spPr>
          <a:xfrm>
            <a:off x="5524500" y="323850"/>
            <a:ext cx="598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‏عملکرد بخش‌ها</a:t>
            </a: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22B6EDEA-41B7-4965-BD8C-7F210384B0C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85D853A8-77D8-460B-BCEF-4E78A54B97B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7E1E8"/>
          </a:solidFill>
          <a:ln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6F32B544-C998-4A6C-85AE-8D48A33148D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‏6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2C8F2340-F6C0-4833-B07A-3C33A62A8DE3}"/>
              </a:ext>
            </a:extLst>
          </p:cNvPr>
          <p:cNvSpPr>
            <a:spLocks noGrp="1"/>
          </p:cNvSpPr>
          <p:nvPr/>
        </p:nvSpPr>
        <p:spPr>
          <a:xfrm>
            <a:off x="6667500" y="651510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فراوانی CPR در بخش‌ها-chart-title">
            <a:extLst>
              <a:ext uri="{FF2B5EF4-FFF2-40B4-BE49-F238E27FC236}">
                <a16:creationId xmlns:a16="http://schemas.microsoft.com/office/drawing/2014/main" id="{B885BE5A-83A3-47B2-BBDE-0CFD70D458A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 rtl="1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فراوانی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CPR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در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بخش‌ها</a:t>
            </a:r>
            <a:endParaRPr sz="142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3738101004"/>
              </p:ext>
            </p:extLst>
          </p:nvPr>
        </p:nvGraphicFramePr>
        <p:xfrm>
          <a:off x="685800" y="1390650"/>
          <a:ext cx="5238750" cy="401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نرخ موفقیت بخش‌ها-chart-title">
            <a:extLst>
              <a:ext uri="{FF2B5EF4-FFF2-40B4-BE49-F238E27FC236}">
                <a16:creationId xmlns:a16="http://schemas.microsoft.com/office/drawing/2014/main" id="{491A7C67-D352-4B18-A51C-FBD337CA4F1A}"/>
              </a:ext>
            </a:extLst>
          </p:cNvPr>
          <p:cNvSpPr>
            <a:spLocks noGrp="1"/>
          </p:cNvSpPr>
          <p:nvPr/>
        </p:nvSpPr>
        <p:spPr>
          <a:xfrm>
            <a:off x="6267450" y="10668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 rtl="1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نرخ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موفقیت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بخش‌ها</a:t>
            </a:r>
            <a:endParaRPr sz="142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graphicFrame>
        <p:nvGraphicFramePr>
          <p:cNvPr id="22" name="Chart"/>
          <p:cNvGraphicFramePr/>
          <p:nvPr>
            <p:extLst>
              <p:ext uri="{D42A27DB-BD31-4B8C-83A1-F6EECF244321}">
                <p14:modId xmlns:p14="http://schemas.microsoft.com/office/powerpoint/2010/main" val="2471600421"/>
              </p:ext>
            </p:extLst>
          </p:nvPr>
        </p:nvGraphicFramePr>
        <p:xfrm>
          <a:off x="6267450" y="1390650"/>
          <a:ext cx="5238750" cy="401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akeaway-box">
            <a:extLst>
              <a:ext uri="{FF2B5EF4-FFF2-40B4-BE49-F238E27FC236}">
                <a16:creationId xmlns:a16="http://schemas.microsoft.com/office/drawing/2014/main" id="{DACC1417-2316-474D-A9C3-89FEEBD5DCFB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20400" cy="68580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>
              <a:ext uri="{FF2B5EF4-FFF2-40B4-BE49-F238E27FC236}">
                <a16:creationId xmlns:a16="http://schemas.microsoft.com/office/drawing/2014/main" id="{994CC8E1-6179-4B08-835E-3F86FD185656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‏CICU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با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51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رویداد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،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بیشترین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حجم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CPR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را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داشته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است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43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rule">
            <a:extLst>
              <a:ext uri="{FF2B5EF4-FFF2-40B4-BE49-F238E27FC236}">
                <a16:creationId xmlns:a16="http://schemas.microsoft.com/office/drawing/2014/main" id="{29AF6F33-1F0E-4147-BD43-DDA5D60B5E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9C8F06F-A47B-4702-93EB-20DC77D8D6CC}"/>
              </a:ext>
            </a:extLst>
          </p:cNvPr>
          <p:cNvSpPr>
            <a:spLocks noGrp="1"/>
          </p:cNvSpPr>
          <p:nvPr/>
        </p:nvSpPr>
        <p:spPr>
          <a:xfrm>
            <a:off x="5524500" y="323850"/>
            <a:ext cx="598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r" rtl="1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عملکرد</a:t>
            </a: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شیفت‌ها</a:t>
            </a:r>
            <a:endParaRPr sz="337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868AC311-C5D3-4E19-9F21-64657F1E202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 rtl="1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گزارش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مدیریت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CPR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357DE8AA-DB6C-4D31-8173-5ED29EA0035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7E1E8"/>
          </a:solidFill>
          <a:ln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9657ED56-00A5-442C-BF46-516B16C278B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‏7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5D4A14DC-B0CD-410F-90BE-DE004BECC71D}"/>
              </a:ext>
            </a:extLst>
          </p:cNvPr>
          <p:cNvSpPr>
            <a:spLocks noGrp="1"/>
          </p:cNvSpPr>
          <p:nvPr/>
        </p:nvSpPr>
        <p:spPr>
          <a:xfrm>
            <a:off x="6667500" y="651510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 rtl="1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بیمارستان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قلب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شهید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چمران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اصفهان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|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سه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ماهه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اول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۱۴۰۵</a:t>
            </a:r>
          </a:p>
        </p:txBody>
      </p:sp>
      <p:sp>
        <p:nvSpPr>
          <p:cNvPr id="7" name="فراوانی CPR در شیفت‌ها-chart-title">
            <a:extLst>
              <a:ext uri="{FF2B5EF4-FFF2-40B4-BE49-F238E27FC236}">
                <a16:creationId xmlns:a16="http://schemas.microsoft.com/office/drawing/2014/main" id="{E735B62E-E7C1-4126-8BE7-F411522CDA5F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‏فراوانی CPR در شیفت‌ها</a:t>
            </a: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656786156"/>
              </p:ext>
            </p:extLst>
          </p:nvPr>
        </p:nvGraphicFramePr>
        <p:xfrm>
          <a:off x="685800" y="1390650"/>
          <a:ext cx="5238750" cy="401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نرخ موفقیت شیفت‌ها-chart-title">
            <a:extLst>
              <a:ext uri="{FF2B5EF4-FFF2-40B4-BE49-F238E27FC236}">
                <a16:creationId xmlns:a16="http://schemas.microsoft.com/office/drawing/2014/main" id="{C530DE69-54AD-4EBD-8DD7-ACEB421FC876}"/>
              </a:ext>
            </a:extLst>
          </p:cNvPr>
          <p:cNvSpPr>
            <a:spLocks noGrp="1"/>
          </p:cNvSpPr>
          <p:nvPr/>
        </p:nvSpPr>
        <p:spPr>
          <a:xfrm>
            <a:off x="6267450" y="10668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شیفت‌ها</a:t>
            </a:r>
          </a:p>
        </p:txBody>
      </p:sp>
      <p:graphicFrame>
        <p:nvGraphicFramePr>
          <p:cNvPr id="22" name="Chart"/>
          <p:cNvGraphicFramePr/>
          <p:nvPr>
            <p:extLst>
              <p:ext uri="{D42A27DB-BD31-4B8C-83A1-F6EECF244321}">
                <p14:modId xmlns:p14="http://schemas.microsoft.com/office/powerpoint/2010/main" val="3019981155"/>
              </p:ext>
            </p:extLst>
          </p:nvPr>
        </p:nvGraphicFramePr>
        <p:xfrm>
          <a:off x="6267450" y="1390650"/>
          <a:ext cx="5238750" cy="401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akeaway-box">
            <a:extLst>
              <a:ext uri="{FF2B5EF4-FFF2-40B4-BE49-F238E27FC236}">
                <a16:creationId xmlns:a16="http://schemas.microsoft.com/office/drawing/2014/main" id="{4701515B-2A6F-45E6-940A-A42E6914E7B3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20400" cy="68580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>
              <a:ext uri="{FF2B5EF4-FFF2-40B4-BE49-F238E27FC236}">
                <a16:creationId xmlns:a16="http://schemas.microsoft.com/office/drawing/2014/main" id="{3660BC38-7BC8-4C5A-9B74-C1D6A61FABA6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شیفت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شب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با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60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رویداد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،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پرتراکم‌ترین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شیفت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بوده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است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775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rule">
            <a:extLst>
              <a:ext uri="{FF2B5EF4-FFF2-40B4-BE49-F238E27FC236}">
                <a16:creationId xmlns:a16="http://schemas.microsoft.com/office/drawing/2014/main" id="{77E79D52-6601-434B-B30B-3EBAB5E2EA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1B3E8CF-6AB3-4325-960D-1D87201CCADD}"/>
              </a:ext>
            </a:extLst>
          </p:cNvPr>
          <p:cNvSpPr>
            <a:spLocks noGrp="1"/>
          </p:cNvSpPr>
          <p:nvPr/>
        </p:nvSpPr>
        <p:spPr>
          <a:xfrm>
            <a:off x="5524500" y="323850"/>
            <a:ext cx="598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عملکرد</a:t>
            </a: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سوپروایزرها</a:t>
            </a:r>
            <a:endParaRPr sz="337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D9C0FB5F-25FA-4440-B655-EA46C312306C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 rtl="1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گزارش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مدیریت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CPR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FB78FA87-D260-49A1-9E21-BDE1FD93AE5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7E1E8"/>
          </a:solidFill>
          <a:ln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12C787D-1CF5-46C4-B263-9788234D7BD8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‏8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2EE69030-96F3-4B12-A6F3-D33CB0E07BCE}"/>
              </a:ext>
            </a:extLst>
          </p:cNvPr>
          <p:cNvSpPr>
            <a:spLocks noGrp="1"/>
          </p:cNvSpPr>
          <p:nvPr/>
        </p:nvSpPr>
        <p:spPr>
          <a:xfrm>
            <a:off x="6667500" y="651510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بیمارستان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قلب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شهید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چمران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اصفهان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|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سه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ماهه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اول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۱۴۰۵</a:t>
            </a:r>
          </a:p>
        </p:txBody>
      </p:sp>
      <p:sp>
        <p:nvSpPr>
          <p:cNvPr id="7" name="فراوانی حضور سوپروایزرها-chart-title">
            <a:extLst>
              <a:ext uri="{FF2B5EF4-FFF2-40B4-BE49-F238E27FC236}">
                <a16:creationId xmlns:a16="http://schemas.microsoft.com/office/drawing/2014/main" id="{EE6C30AE-C2B3-44B1-98C0-2DDD3D64898B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فراوانی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سوپروایزرها</a:t>
            </a:r>
            <a:endParaRPr sz="142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680147951"/>
              </p:ext>
            </p:extLst>
          </p:nvPr>
        </p:nvGraphicFramePr>
        <p:xfrm>
          <a:off x="685800" y="1390650"/>
          <a:ext cx="5238750" cy="401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نرخ موفقیت سوپروایزرها-chart-title">
            <a:extLst>
              <a:ext uri="{FF2B5EF4-FFF2-40B4-BE49-F238E27FC236}">
                <a16:creationId xmlns:a16="http://schemas.microsoft.com/office/drawing/2014/main" id="{8C063A83-10F6-4F3E-8365-413BE1EA9CC9}"/>
              </a:ext>
            </a:extLst>
          </p:cNvPr>
          <p:cNvSpPr>
            <a:spLocks noGrp="1"/>
          </p:cNvSpPr>
          <p:nvPr/>
        </p:nvSpPr>
        <p:spPr>
          <a:xfrm>
            <a:off x="6267450" y="10668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سوپروایزرها</a:t>
            </a:r>
          </a:p>
        </p:txBody>
      </p:sp>
      <p:graphicFrame>
        <p:nvGraphicFramePr>
          <p:cNvPr id="22" name="Chart"/>
          <p:cNvGraphicFramePr/>
          <p:nvPr>
            <p:extLst>
              <p:ext uri="{D42A27DB-BD31-4B8C-83A1-F6EECF244321}">
                <p14:modId xmlns:p14="http://schemas.microsoft.com/office/powerpoint/2010/main" val="658314247"/>
              </p:ext>
            </p:extLst>
          </p:nvPr>
        </p:nvGraphicFramePr>
        <p:xfrm>
          <a:off x="6267450" y="1390650"/>
          <a:ext cx="5238750" cy="401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akeaway-box">
            <a:extLst>
              <a:ext uri="{FF2B5EF4-FFF2-40B4-BE49-F238E27FC236}">
                <a16:creationId xmlns:a16="http://schemas.microsoft.com/office/drawing/2014/main" id="{44853B4A-1322-413D-AA05-D37A07A4ABAC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20400" cy="68580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>
              <a:ext uri="{FF2B5EF4-FFF2-40B4-BE49-F238E27FC236}">
                <a16:creationId xmlns:a16="http://schemas.microsoft.com/office/drawing/2014/main" id="{CD66D3E6-F387-4BCF-BFF3-CF32EF58907B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خانم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رضائی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با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نرخ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70.4%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در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27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مورد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،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بهترین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عملکرد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واجد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حداقل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حجم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را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ثبت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کرده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است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2296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-rule">
            <a:extLst>
              <a:ext uri="{FF2B5EF4-FFF2-40B4-BE49-F238E27FC236}">
                <a16:creationId xmlns:a16="http://schemas.microsoft.com/office/drawing/2014/main" id="{0E31F9E5-52D0-4D0D-8625-4DF3821BD5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582A609-30C6-4D19-A480-F1E99188324B}"/>
              </a:ext>
            </a:extLst>
          </p:cNvPr>
          <p:cNvSpPr>
            <a:spLocks noGrp="1"/>
          </p:cNvSpPr>
          <p:nvPr/>
        </p:nvSpPr>
        <p:spPr>
          <a:xfrm>
            <a:off x="5524500" y="323850"/>
            <a:ext cx="598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r" rtl="1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الگوی</a:t>
            </a: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تراکم</a:t>
            </a: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رویدادها</a:t>
            </a:r>
            <a:endParaRPr sz="337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62C3762B-9815-4B2B-AC2D-7D480741D79C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 rtl="1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گزارش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مدیریت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CPR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EAC09EEA-E95A-480E-998F-FD0DEB1BA8D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7E1E8"/>
          </a:solidFill>
          <a:ln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6BB1279A-9046-4073-983E-EE83A49B216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‏9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2E3F83EE-9D51-49A0-9140-CFBE52202CD3}"/>
              </a:ext>
            </a:extLst>
          </p:cNvPr>
          <p:cNvSpPr>
            <a:spLocks noGrp="1"/>
          </p:cNvSpPr>
          <p:nvPr/>
        </p:nvSpPr>
        <p:spPr>
          <a:xfrm>
            <a:off x="6667500" y="651510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بخش و شیفت-chart-title">
            <a:extLst>
              <a:ext uri="{FF2B5EF4-FFF2-40B4-BE49-F238E27FC236}">
                <a16:creationId xmlns:a16="http://schemas.microsoft.com/office/drawing/2014/main" id="{CBD2C89F-E6AD-41EF-B0F1-2DAF90DBE2AE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بخش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و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شیفت</a:t>
            </a:r>
            <a:endParaRPr sz="142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graphicFrame>
        <p:nvGraphicFramePr>
          <p:cNvPr id="21" name="Table 20"/>
          <p:cNvGraphicFramePr/>
          <p:nvPr>
            <p:extLst>
              <p:ext uri="{D42A27DB-BD31-4B8C-83A1-F6EECF244321}">
                <p14:modId xmlns:p14="http://schemas.microsoft.com/office/powerpoint/2010/main" val="3094161063"/>
              </p:ext>
            </p:extLst>
          </p:nvPr>
        </p:nvGraphicFramePr>
        <p:xfrm>
          <a:off x="857248" y="981074"/>
          <a:ext cx="6191252" cy="4930669"/>
        </p:xfrm>
        <a:graphic>
          <a:graphicData uri="http://schemas.openxmlformats.org/drawingml/2006/table">
            <a:tbl>
              <a:tblPr rtl="1"/>
              <a:tblGrid>
                <a:gridCol w="154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7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‏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بخش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‏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شب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‏صبح</a:t>
                      </a: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‏عصر</a:t>
                      </a:r>
                    </a:p>
                  </a:txBody>
                  <a:tcPr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324D"/>
                          </a:solidFill>
                        </a:rPr>
                        <a:t>CCU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324D"/>
                          </a:solidFill>
                        </a:rPr>
                        <a:t>CCU </a:t>
                      </a:r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ویژه</a:t>
                      </a:r>
                      <a:endParaRPr sz="12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324D"/>
                          </a:solidFill>
                        </a:rPr>
                        <a:t>CICU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14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14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324D"/>
                          </a:solidFill>
                        </a:rPr>
                        <a:t>ICUA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324D"/>
                          </a:solidFill>
                        </a:rPr>
                        <a:t>ICUB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324D"/>
                          </a:solidFill>
                        </a:rPr>
                        <a:t>NICU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324D"/>
                          </a:solidFill>
                        </a:rPr>
                        <a:t>PICU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آنژیوگرافی</a:t>
                      </a:r>
                      <a:endParaRPr sz="12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A7D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اطفال</a:t>
                      </a:r>
                      <a:endParaRPr sz="12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اورژانس</a:t>
                      </a:r>
                      <a:endParaRPr sz="12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A7D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اکو</a:t>
                      </a:r>
                      <a:r>
                        <a:rPr sz="1200" b="1" dirty="0">
                          <a:solidFill>
                            <a:srgbClr val="17324D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تخصصی</a:t>
                      </a:r>
                      <a:endParaRPr sz="12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جراحی</a:t>
                      </a:r>
                      <a:endParaRPr sz="12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دیالیز</a:t>
                      </a:r>
                      <a:endParaRPr sz="12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زنان</a:t>
                      </a:r>
                      <a:endParaRPr sz="12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مردان</a:t>
                      </a:r>
                      <a:r>
                        <a:rPr sz="1200" b="1" dirty="0">
                          <a:solidFill>
                            <a:srgbClr val="17324D"/>
                          </a:solidFill>
                        </a:rPr>
                        <a:t> 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مردان</a:t>
                      </a:r>
                      <a:r>
                        <a:rPr sz="1200" b="1" dirty="0">
                          <a:solidFill>
                            <a:srgbClr val="17324D"/>
                          </a:solidFill>
                        </a:rPr>
                        <a:t> C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پست</a:t>
                      </a:r>
                      <a:r>
                        <a:rPr sz="1200" b="1" dirty="0">
                          <a:solidFill>
                            <a:srgbClr val="17324D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7324D"/>
                          </a:solidFill>
                        </a:rPr>
                        <a:t>آنژیو</a:t>
                      </a:r>
                      <a:endParaRPr sz="12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8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9" name="ماه و شیفت-chart-title">
            <a:extLst>
              <a:ext uri="{FF2B5EF4-FFF2-40B4-BE49-F238E27FC236}">
                <a16:creationId xmlns:a16="http://schemas.microsoft.com/office/drawing/2014/main" id="{5B6CE63D-039D-4038-8BBB-EE174B3DFE24}"/>
              </a:ext>
            </a:extLst>
          </p:cNvPr>
          <p:cNvSpPr>
            <a:spLocks noGrp="1"/>
          </p:cNvSpPr>
          <p:nvPr/>
        </p:nvSpPr>
        <p:spPr>
          <a:xfrm>
            <a:off x="7162800" y="10668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‏ماه و شیفت</a:t>
            </a:r>
          </a:p>
        </p:txBody>
      </p:sp>
      <p:graphicFrame>
        <p:nvGraphicFramePr>
          <p:cNvPr id="23" name="Table 22"/>
          <p:cNvGraphicFramePr/>
          <p:nvPr>
            <p:extLst>
              <p:ext uri="{D42A27DB-BD31-4B8C-83A1-F6EECF244321}">
                <p14:modId xmlns:p14="http://schemas.microsoft.com/office/powerpoint/2010/main" val="4018016233"/>
              </p:ext>
            </p:extLst>
          </p:nvPr>
        </p:nvGraphicFramePr>
        <p:xfrm>
          <a:off x="7162800" y="1447800"/>
          <a:ext cx="4343400" cy="2476500"/>
        </p:xfrm>
        <a:graphic>
          <a:graphicData uri="http://schemas.openxmlformats.org/drawingml/2006/table">
            <a:tbl>
              <a:tblPr rtl="1"/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‏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ماه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‏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شب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‏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صبح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‏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عصر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17324D"/>
                          </a:solidFill>
                        </a:rPr>
                        <a:t>فروردین</a:t>
                      </a:r>
                      <a:endParaRPr sz="14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14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324D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A7D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17324D"/>
                          </a:solidFill>
                        </a:rPr>
                        <a:t>اردیبهشت</a:t>
                      </a:r>
                      <a:endParaRPr sz="14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324D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324D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A7D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17324D"/>
                          </a:solidFill>
                        </a:rPr>
                        <a:t>خرداد</a:t>
                      </a:r>
                      <a:endParaRPr sz="1400" b="1" dirty="0">
                        <a:solidFill>
                          <a:srgbClr val="17324D"/>
                        </a:solidFill>
                      </a:endParaRP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7324D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55B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heatmap-note">
            <a:extLst>
              <a:ext uri="{FF2B5EF4-FFF2-40B4-BE49-F238E27FC236}">
                <a16:creationId xmlns:a16="http://schemas.microsoft.com/office/drawing/2014/main" id="{041790FD-032D-4779-8221-04FA18F326AE}"/>
              </a:ext>
            </a:extLst>
          </p:cNvPr>
          <p:cNvSpPr>
            <a:spLocks noGrp="1"/>
          </p:cNvSpPr>
          <p:nvPr/>
        </p:nvSpPr>
        <p:spPr>
          <a:xfrm>
            <a:off x="7162800" y="41910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5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500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500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سلول</a:t>
            </a:r>
            <a:r>
              <a:rPr sz="1500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تیره‌تر</a:t>
            </a:r>
            <a:r>
              <a:rPr sz="1500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نشان‌دهنده</a:t>
            </a:r>
            <a:r>
              <a:rPr sz="1500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تعداد</a:t>
            </a:r>
            <a:r>
              <a:rPr sz="1500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بیشتر</a:t>
            </a:r>
            <a:r>
              <a:rPr sz="1500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رویداد</a:t>
            </a:r>
            <a:r>
              <a:rPr sz="1500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است</a:t>
            </a:r>
            <a:r>
              <a:rPr sz="1500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  <p:sp>
        <p:nvSpPr>
          <p:cNvPr id="12" name="takeaway-box">
            <a:extLst>
              <a:ext uri="{FF2B5EF4-FFF2-40B4-BE49-F238E27FC236}">
                <a16:creationId xmlns:a16="http://schemas.microsoft.com/office/drawing/2014/main" id="{96714D91-ED8D-486A-9D0E-C4F3038BB923}"/>
              </a:ext>
            </a:extLst>
          </p:cNvPr>
          <p:cNvSpPr>
            <a:spLocks noGrp="1"/>
          </p:cNvSpPr>
          <p:nvPr/>
        </p:nvSpPr>
        <p:spPr>
          <a:xfrm>
            <a:off x="1042219" y="5895969"/>
            <a:ext cx="10591801" cy="523757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3" name="takeaway">
            <a:extLst>
              <a:ext uri="{FF2B5EF4-FFF2-40B4-BE49-F238E27FC236}">
                <a16:creationId xmlns:a16="http://schemas.microsoft.com/office/drawing/2014/main" id="{AB7C0D81-C757-4B2D-9544-C59BE097313E}"/>
              </a:ext>
            </a:extLst>
          </p:cNvPr>
          <p:cNvSpPr>
            <a:spLocks noGrp="1"/>
          </p:cNvSpPr>
          <p:nvPr/>
        </p:nvSpPr>
        <p:spPr>
          <a:xfrm>
            <a:off x="1219200" y="587692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نقشه‌های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حرارتی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نقاط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تمرکز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عملیاتی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را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برای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برنامه‌ریزی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نیروی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انسانی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مشخص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4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می‌کنند</a:t>
            </a:r>
            <a:r>
              <a:rPr sz="14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7255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p-rule">
            <a:extLst>
              <a:ext uri="{FF2B5EF4-FFF2-40B4-BE49-F238E27FC236}">
                <a16:creationId xmlns:a16="http://schemas.microsoft.com/office/drawing/2014/main" id="{0F7B2B37-8C73-42D1-A981-F9A0F231C0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0287446-6F3A-46F0-BAE8-E4F6DB066BB7}"/>
              </a:ext>
            </a:extLst>
          </p:cNvPr>
          <p:cNvSpPr>
            <a:spLocks noGrp="1"/>
          </p:cNvSpPr>
          <p:nvPr/>
        </p:nvSpPr>
        <p:spPr>
          <a:xfrm>
            <a:off x="5524500" y="323850"/>
            <a:ext cx="598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 fontScale="92593"/>
          </a:bodyPr>
          <a:lstStyle/>
          <a:p>
            <a:pPr algn="r" rtl="1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جمع‌بندی</a:t>
            </a:r>
            <a:r>
              <a:rPr sz="337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337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مدیریتی</a:t>
            </a:r>
            <a:endParaRPr sz="337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120F2C74-5AB0-41DE-A9AF-5828C666493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l" rtl="1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گزارش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مدیریت</a:t>
            </a:r>
            <a:r>
              <a:rPr sz="1275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CPR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6ABBAE9B-E09E-48A0-B153-3F90D8F1499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9525"/>
          </a:xfrm>
          <a:prstGeom prst="rect">
            <a:avLst/>
          </a:prstGeom>
          <a:solidFill>
            <a:srgbClr val="D7E1E8"/>
          </a:solidFill>
          <a:ln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A1FEF68C-CDF1-4713-8FAB-E89A179E5C6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‏10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0A5A50D5-26BB-4D4F-8C3A-794EE8EB2962}"/>
              </a:ext>
            </a:extLst>
          </p:cNvPr>
          <p:cNvSpPr>
            <a:spLocks noGrp="1"/>
          </p:cNvSpPr>
          <p:nvPr/>
        </p:nvSpPr>
        <p:spPr>
          <a:xfrm>
            <a:off x="6667500" y="651510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 rtl="1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بیمارستان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قلب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شهید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چمران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اصفهان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|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سه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ماهه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</a:t>
            </a:r>
            <a:r>
              <a:rPr sz="1050" b="0" dirty="0" err="1">
                <a:solidFill>
                  <a:srgbClr val="607386"/>
                </a:solidFill>
                <a:latin typeface="Tahoma"/>
                <a:ea typeface="Tahoma"/>
                <a:cs typeface="Tahoma"/>
              </a:rPr>
              <a:t>اول</a:t>
            </a:r>
            <a:r>
              <a:rPr sz="1050" b="0" dirty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 ۱۴۰۵</a:t>
            </a:r>
          </a:p>
        </p:txBody>
      </p:sp>
      <p:sp>
        <p:nvSpPr>
          <p:cNvPr id="7" name="rec-۱">
            <a:extLst>
              <a:ext uri="{FF2B5EF4-FFF2-40B4-BE49-F238E27FC236}">
                <a16:creationId xmlns:a16="http://schemas.microsoft.com/office/drawing/2014/main" id="{6FCC77FC-2E2A-40D7-A90D-DE2D49B22BEC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97155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8" name="rec-num-۱">
            <a:extLst>
              <a:ext uri="{FF2B5EF4-FFF2-40B4-BE49-F238E27FC236}">
                <a16:creationId xmlns:a16="http://schemas.microsoft.com/office/drawing/2014/main" id="{983F14EB-B0E7-4CF3-92FD-AA0F582DF807}"/>
              </a:ext>
            </a:extLst>
          </p:cNvPr>
          <p:cNvSpPr>
            <a:spLocks noGrp="1"/>
          </p:cNvSpPr>
          <p:nvPr/>
        </p:nvSpPr>
        <p:spPr>
          <a:xfrm>
            <a:off x="10687050" y="1323975"/>
            <a:ext cx="552450" cy="552450"/>
          </a:xfrm>
          <a:prstGeom prst="roundRect">
            <a:avLst>
              <a:gd name="adj" fmla="val 10345"/>
            </a:avLst>
          </a:prstGeom>
          <a:solidFill>
            <a:srgbClr val="C64B4B"/>
          </a:solidFill>
          <a:ln w="0">
            <a:solidFill>
              <a:srgbClr val="C64B4B"/>
            </a:solidFill>
            <a:prstDash val="solid"/>
          </a:ln>
        </p:spPr>
      </p:sp>
      <p:sp>
        <p:nvSpPr>
          <p:cNvPr id="9" name="rec-num-text-۱">
            <a:extLst>
              <a:ext uri="{FF2B5EF4-FFF2-40B4-BE49-F238E27FC236}">
                <a16:creationId xmlns:a16="http://schemas.microsoft.com/office/drawing/2014/main" id="{4167DC23-34AC-4621-968E-C9ED54F4614E}"/>
              </a:ext>
            </a:extLst>
          </p:cNvPr>
          <p:cNvSpPr>
            <a:spLocks noGrp="1"/>
          </p:cNvSpPr>
          <p:nvPr/>
        </p:nvSpPr>
        <p:spPr>
          <a:xfrm>
            <a:off x="10687050" y="1323975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‏۱</a:t>
            </a:r>
          </a:p>
        </p:txBody>
      </p:sp>
      <p:sp>
        <p:nvSpPr>
          <p:cNvPr id="10" name="rec-head-۱">
            <a:extLst>
              <a:ext uri="{FF2B5EF4-FFF2-40B4-BE49-F238E27FC236}">
                <a16:creationId xmlns:a16="http://schemas.microsoft.com/office/drawing/2014/main" id="{069E5D1B-16D3-4599-B06E-C366D7D2A6F5}"/>
              </a:ext>
            </a:extLst>
          </p:cNvPr>
          <p:cNvSpPr>
            <a:spLocks noGrp="1"/>
          </p:cNvSpPr>
          <p:nvPr/>
        </p:nvSpPr>
        <p:spPr>
          <a:xfrm>
            <a:off x="6438900" y="12763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‏تمرکز بر ماه با کمترین نرخ</a:t>
            </a:r>
          </a:p>
        </p:txBody>
      </p:sp>
      <p:sp>
        <p:nvSpPr>
          <p:cNvPr id="11" name="rec-body-۱">
            <a:extLst>
              <a:ext uri="{FF2B5EF4-FFF2-40B4-BE49-F238E27FC236}">
                <a16:creationId xmlns:a16="http://schemas.microsoft.com/office/drawing/2014/main" id="{775535F3-C6C8-4775-AF00-40157B891E53}"/>
              </a:ext>
            </a:extLst>
          </p:cNvPr>
          <p:cNvSpPr>
            <a:spLocks noGrp="1"/>
          </p:cNvSpPr>
          <p:nvPr/>
        </p:nvSpPr>
        <p:spPr>
          <a:xfrm>
            <a:off x="1047750" y="1600200"/>
            <a:ext cx="939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بررسی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علل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افت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خرداد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با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نرخ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40.9%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در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سطح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بخش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و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شیفت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  <p:sp>
        <p:nvSpPr>
          <p:cNvPr id="12" name="rec-۲">
            <a:extLst>
              <a:ext uri="{FF2B5EF4-FFF2-40B4-BE49-F238E27FC236}">
                <a16:creationId xmlns:a16="http://schemas.microsoft.com/office/drawing/2014/main" id="{89E4A3D3-E2EF-4169-85C5-72CE07531FE1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0820400" cy="971550"/>
          </a:xfrm>
          <a:prstGeom prst="roundRect">
            <a:avLst>
              <a:gd name="adj" fmla="val 5882"/>
            </a:avLst>
          </a:prstGeom>
          <a:solidFill>
            <a:srgbClr val="EDF4F7"/>
          </a:solidFill>
          <a:ln w="0">
            <a:solidFill>
              <a:srgbClr val="EDF4F7"/>
            </a:solidFill>
            <a:prstDash val="solid"/>
          </a:ln>
        </p:spPr>
      </p:sp>
      <p:sp>
        <p:nvSpPr>
          <p:cNvPr id="13" name="rec-num-۲">
            <a:extLst>
              <a:ext uri="{FF2B5EF4-FFF2-40B4-BE49-F238E27FC236}">
                <a16:creationId xmlns:a16="http://schemas.microsoft.com/office/drawing/2014/main" id="{2D53C3EB-0E30-4D9B-937F-BE74037B0169}"/>
              </a:ext>
            </a:extLst>
          </p:cNvPr>
          <p:cNvSpPr>
            <a:spLocks noGrp="1"/>
          </p:cNvSpPr>
          <p:nvPr/>
        </p:nvSpPr>
        <p:spPr>
          <a:xfrm>
            <a:off x="10687050" y="2524125"/>
            <a:ext cx="552450" cy="552450"/>
          </a:xfrm>
          <a:prstGeom prst="roundRect">
            <a:avLst>
              <a:gd name="adj" fmla="val 10345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14" name="rec-num-text-۲">
            <a:extLst>
              <a:ext uri="{FF2B5EF4-FFF2-40B4-BE49-F238E27FC236}">
                <a16:creationId xmlns:a16="http://schemas.microsoft.com/office/drawing/2014/main" id="{053F53C3-8B7A-4F63-AF66-C2CF1DD5D9DB}"/>
              </a:ext>
            </a:extLst>
          </p:cNvPr>
          <p:cNvSpPr>
            <a:spLocks noGrp="1"/>
          </p:cNvSpPr>
          <p:nvPr/>
        </p:nvSpPr>
        <p:spPr>
          <a:xfrm>
            <a:off x="10687050" y="2524125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‏۲</a:t>
            </a:r>
          </a:p>
        </p:txBody>
      </p:sp>
      <p:sp>
        <p:nvSpPr>
          <p:cNvPr id="15" name="rec-head-۲">
            <a:extLst>
              <a:ext uri="{FF2B5EF4-FFF2-40B4-BE49-F238E27FC236}">
                <a16:creationId xmlns:a16="http://schemas.microsoft.com/office/drawing/2014/main" id="{A7985B13-0566-431E-A9E6-A9609B839C27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</a:t>
            </a:r>
            <a:r>
              <a:rPr sz="17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استانداردسازی</a:t>
            </a:r>
            <a:r>
              <a:rPr sz="17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تجربه</a:t>
            </a:r>
            <a:r>
              <a:rPr sz="17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تیم</a:t>
            </a:r>
            <a:r>
              <a:rPr sz="1725" b="1" dirty="0">
                <a:solidFill>
                  <a:srgbClr val="12304A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1" dirty="0" err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برتر</a:t>
            </a:r>
            <a:endParaRPr sz="1725" b="1" dirty="0">
              <a:solidFill>
                <a:srgbClr val="12304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rec-body-۲">
            <a:extLst>
              <a:ext uri="{FF2B5EF4-FFF2-40B4-BE49-F238E27FC236}">
                <a16:creationId xmlns:a16="http://schemas.microsoft.com/office/drawing/2014/main" id="{2B65FF58-77B2-4B8C-8695-6D68FD02D271}"/>
              </a:ext>
            </a:extLst>
          </p:cNvPr>
          <p:cNvSpPr>
            <a:spLocks noGrp="1"/>
          </p:cNvSpPr>
          <p:nvPr/>
        </p:nvSpPr>
        <p:spPr>
          <a:xfrm>
            <a:off x="1047750" y="2800350"/>
            <a:ext cx="939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انتقال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تجربه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خانم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رضائی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به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سایر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تیم‌ها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؛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رتبه‌بندی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با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حداقل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5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مورد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انجام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شده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است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  <p:sp>
        <p:nvSpPr>
          <p:cNvPr id="17" name="rec-۳">
            <a:extLst>
              <a:ext uri="{FF2B5EF4-FFF2-40B4-BE49-F238E27FC236}">
                <a16:creationId xmlns:a16="http://schemas.microsoft.com/office/drawing/2014/main" id="{9A336930-2386-497D-92D7-507FF408A732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10820400" cy="97155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 w="0">
            <a:solidFill>
              <a:srgbClr val="F4F8FA"/>
            </a:solidFill>
            <a:prstDash val="solid"/>
          </a:ln>
        </p:spPr>
      </p:sp>
      <p:sp>
        <p:nvSpPr>
          <p:cNvPr id="18" name="rec-num-۳">
            <a:extLst>
              <a:ext uri="{FF2B5EF4-FFF2-40B4-BE49-F238E27FC236}">
                <a16:creationId xmlns:a16="http://schemas.microsoft.com/office/drawing/2014/main" id="{A4F37334-BCC3-4ABE-A2B4-6E2D8F5B0634}"/>
              </a:ext>
            </a:extLst>
          </p:cNvPr>
          <p:cNvSpPr>
            <a:spLocks noGrp="1"/>
          </p:cNvSpPr>
          <p:nvPr/>
        </p:nvSpPr>
        <p:spPr>
          <a:xfrm>
            <a:off x="10687050" y="3724275"/>
            <a:ext cx="552450" cy="552450"/>
          </a:xfrm>
          <a:prstGeom prst="roundRect">
            <a:avLst>
              <a:gd name="adj" fmla="val 10345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19" name="rec-num-text-۳">
            <a:extLst>
              <a:ext uri="{FF2B5EF4-FFF2-40B4-BE49-F238E27FC236}">
                <a16:creationId xmlns:a16="http://schemas.microsoft.com/office/drawing/2014/main" id="{952C0BE6-D644-492B-AC58-119BF11CDC10}"/>
              </a:ext>
            </a:extLst>
          </p:cNvPr>
          <p:cNvSpPr>
            <a:spLocks noGrp="1"/>
          </p:cNvSpPr>
          <p:nvPr/>
        </p:nvSpPr>
        <p:spPr>
          <a:xfrm>
            <a:off x="10687050" y="3724275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‏۳</a:t>
            </a:r>
          </a:p>
        </p:txBody>
      </p:sp>
      <p:sp>
        <p:nvSpPr>
          <p:cNvPr id="20" name="rec-head-۳">
            <a:extLst>
              <a:ext uri="{FF2B5EF4-FFF2-40B4-BE49-F238E27FC236}">
                <a16:creationId xmlns:a16="http://schemas.microsoft.com/office/drawing/2014/main" id="{07FDD26D-A7D1-4093-B50A-1AF85C3A76FE}"/>
              </a:ext>
            </a:extLst>
          </p:cNvPr>
          <p:cNvSpPr>
            <a:spLocks noGrp="1"/>
          </p:cNvSpPr>
          <p:nvPr/>
        </p:nvSpPr>
        <p:spPr>
          <a:xfrm>
            <a:off x="6438900" y="36766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‏مدیریت ظرفیت عملیاتی</a:t>
            </a:r>
          </a:p>
        </p:txBody>
      </p:sp>
      <p:sp>
        <p:nvSpPr>
          <p:cNvPr id="21" name="rec-body-۳">
            <a:extLst>
              <a:ext uri="{FF2B5EF4-FFF2-40B4-BE49-F238E27FC236}">
                <a16:creationId xmlns:a16="http://schemas.microsoft.com/office/drawing/2014/main" id="{CBEE8347-6458-48EC-85A9-C50BE84CB7F9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939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بازنگری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پوشش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نیروی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انسانی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در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شیفت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شب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و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بخش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CICU.</a:t>
            </a:r>
          </a:p>
        </p:txBody>
      </p:sp>
      <p:sp>
        <p:nvSpPr>
          <p:cNvPr id="22" name="rec-۴">
            <a:extLst>
              <a:ext uri="{FF2B5EF4-FFF2-40B4-BE49-F238E27FC236}">
                <a16:creationId xmlns:a16="http://schemas.microsoft.com/office/drawing/2014/main" id="{766D48E5-E708-4400-B393-9C5575BDFCAC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10820400" cy="971550"/>
          </a:xfrm>
          <a:prstGeom prst="roundRect">
            <a:avLst>
              <a:gd name="adj" fmla="val 5882"/>
            </a:avLst>
          </a:prstGeom>
          <a:solidFill>
            <a:srgbClr val="EDF4F7"/>
          </a:solidFill>
          <a:ln w="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rec-num-۴">
            <a:extLst>
              <a:ext uri="{FF2B5EF4-FFF2-40B4-BE49-F238E27FC236}">
                <a16:creationId xmlns:a16="http://schemas.microsoft.com/office/drawing/2014/main" id="{F4D6A8B8-2114-48F9-9535-80E1E42EB548}"/>
              </a:ext>
            </a:extLst>
          </p:cNvPr>
          <p:cNvSpPr>
            <a:spLocks noGrp="1"/>
          </p:cNvSpPr>
          <p:nvPr/>
        </p:nvSpPr>
        <p:spPr>
          <a:xfrm>
            <a:off x="10687050" y="4924425"/>
            <a:ext cx="552450" cy="552450"/>
          </a:xfrm>
          <a:prstGeom prst="roundRect">
            <a:avLst>
              <a:gd name="adj" fmla="val 10345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4" name="rec-num-text-۴">
            <a:extLst>
              <a:ext uri="{FF2B5EF4-FFF2-40B4-BE49-F238E27FC236}">
                <a16:creationId xmlns:a16="http://schemas.microsoft.com/office/drawing/2014/main" id="{7E4BE7DB-E74E-4449-BFA9-F6E5ACAAF241}"/>
              </a:ext>
            </a:extLst>
          </p:cNvPr>
          <p:cNvSpPr>
            <a:spLocks noGrp="1"/>
          </p:cNvSpPr>
          <p:nvPr/>
        </p:nvSpPr>
        <p:spPr>
          <a:xfrm>
            <a:off x="10687050" y="4924425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‏۴</a:t>
            </a:r>
          </a:p>
        </p:txBody>
      </p:sp>
      <p:sp>
        <p:nvSpPr>
          <p:cNvPr id="25" name="rec-head-۴">
            <a:extLst>
              <a:ext uri="{FF2B5EF4-FFF2-40B4-BE49-F238E27FC236}">
                <a16:creationId xmlns:a16="http://schemas.microsoft.com/office/drawing/2014/main" id="{7E14DE27-501F-46C3-9703-FD8C4CDF3AD1}"/>
              </a:ext>
            </a:extLst>
          </p:cNvPr>
          <p:cNvSpPr>
            <a:spLocks noGrp="1"/>
          </p:cNvSpPr>
          <p:nvPr/>
        </p:nvSpPr>
        <p:spPr>
          <a:xfrm>
            <a:off x="6438900" y="48768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‏کنترل کیفیت داده</a:t>
            </a:r>
          </a:p>
        </p:txBody>
      </p:sp>
      <p:sp>
        <p:nvSpPr>
          <p:cNvPr id="26" name="rec-body-۴">
            <a:extLst>
              <a:ext uri="{FF2B5EF4-FFF2-40B4-BE49-F238E27FC236}">
                <a16:creationId xmlns:a16="http://schemas.microsoft.com/office/drawing/2014/main" id="{FA0B607A-7877-4197-8192-F6F55E4F256F}"/>
              </a:ext>
            </a:extLst>
          </p:cNvPr>
          <p:cNvSpPr>
            <a:spLocks noGrp="1"/>
          </p:cNvSpPr>
          <p:nvPr/>
        </p:nvSpPr>
        <p:spPr>
          <a:xfrm>
            <a:off x="1047750" y="5200650"/>
            <a:ext cx="939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r" rtl="1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‏2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رکورد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تکراری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حذف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شد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؛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کنترل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تکرار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و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یکسان‌سازی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نام‌ها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در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ورود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داده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الزامی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است</a:t>
            </a:r>
            <a:r>
              <a:rPr sz="1275" b="0" dirty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63188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644</Words>
  <Application>Microsoft Office PowerPoint</Application>
  <DocSecurity>0</DocSecurity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hamid far</cp:lastModifiedBy>
  <cp:revision>4</cp:revision>
  <dcterms:created xsi:type="dcterms:W3CDTF">2026-06-24T19:46:15Z</dcterms:created>
  <dcterms:modified xsi:type="dcterms:W3CDTF">2026-06-24T20:07:16Z</dcterms:modified>
</cp:coreProperties>
</file>