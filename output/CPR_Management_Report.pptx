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5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4a97a54b0e4b00" /><Relationship Type="http://schemas.openxmlformats.org/officeDocument/2006/relationships/extended-properties" Target="/docProps/app.xml" Id="Rb599f8fca032416a" /><Relationship Type="http://schemas.openxmlformats.org/officeDocument/2006/relationships/officeDocument" Target="/ppt/presentation.xml" Id="Rfed8a936fc6c49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f58047cdd0494c"/>
  </p:sldMasterIdLst>
  <p:notesMasterIdLst>
    <p:notesMasterId xmlns:r="http://schemas.openxmlformats.org/officeDocument/2006/relationships" r:id="Rbc5358bc9a3c486a"/>
  </p:notesMasterIdLst>
  <p:sldIdLst>
    <p:sldId xmlns:r="http://schemas.openxmlformats.org/officeDocument/2006/relationships" id="256" r:id="Reb6b97ab6fad4eb3"/>
    <p:sldId xmlns:r="http://schemas.openxmlformats.org/officeDocument/2006/relationships" id="257" r:id="R61a3793f5d0d4fe1"/>
    <p:sldId xmlns:r="http://schemas.openxmlformats.org/officeDocument/2006/relationships" id="258" r:id="R80b92558b0b84d44"/>
    <p:sldId xmlns:r="http://schemas.openxmlformats.org/officeDocument/2006/relationships" id="259" r:id="R51b2465f15ae4a2c"/>
    <p:sldId xmlns:r="http://schemas.openxmlformats.org/officeDocument/2006/relationships" id="260" r:id="Re630f71ab9a145fd"/>
    <p:sldId xmlns:r="http://schemas.openxmlformats.org/officeDocument/2006/relationships" id="261" r:id="Rf9f5578499124512"/>
    <p:sldId xmlns:r="http://schemas.openxmlformats.org/officeDocument/2006/relationships" id="262" r:id="R895e7f6cb7324153"/>
    <p:sldId xmlns:r="http://schemas.openxmlformats.org/officeDocument/2006/relationships" id="263" r:id="R927b0f9044174a8d"/>
    <p:sldId xmlns:r="http://schemas.openxmlformats.org/officeDocument/2006/relationships" id="264" r:id="Rd79352fbb3694a83"/>
    <p:sldId xmlns:r="http://schemas.openxmlformats.org/officeDocument/2006/relationships" id="265" r:id="R5500776fca5b43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26a4c996c741c9" /><Relationship Type="http://schemas.openxmlformats.org/officeDocument/2006/relationships/slideMaster" Target="/ppt/slideMasters/slideMaster1.xml" Id="Re3f58047cdd0494c" /><Relationship Type="http://schemas.openxmlformats.org/officeDocument/2006/relationships/notesMaster" Target="/ppt/notesMasters/notesMaster1.xml" Id="Rbc5358bc9a3c486a" /><Relationship Type="http://schemas.openxmlformats.org/officeDocument/2006/relationships/presProps" Target="/ppt/presProps.xml" Id="R92f078b781a3449a" /><Relationship Type="http://schemas.openxmlformats.org/officeDocument/2006/relationships/tableStyles" Target="/ppt/tableStyles.xml" Id="R8b50438d5b7e465c" /><Relationship Type="http://schemas.openxmlformats.org/officeDocument/2006/relationships/slide" Target="/ppt/slides/slide1.xml" Id="Reb6b97ab6fad4eb3" /><Relationship Type="http://schemas.openxmlformats.org/officeDocument/2006/relationships/slide" Target="/ppt/slides/slide2.xml" Id="R61a3793f5d0d4fe1" /><Relationship Type="http://schemas.openxmlformats.org/officeDocument/2006/relationships/slide" Target="/ppt/slides/slide3.xml" Id="R80b92558b0b84d44" /><Relationship Type="http://schemas.openxmlformats.org/officeDocument/2006/relationships/slide" Target="/ppt/slides/slide4.xml" Id="R51b2465f15ae4a2c" /><Relationship Type="http://schemas.openxmlformats.org/officeDocument/2006/relationships/slide" Target="/ppt/slides/slide5.xml" Id="Re630f71ab9a145fd" /><Relationship Type="http://schemas.openxmlformats.org/officeDocument/2006/relationships/slide" Target="/ppt/slides/slide6.xml" Id="Rf9f5578499124512" /><Relationship Type="http://schemas.openxmlformats.org/officeDocument/2006/relationships/slide" Target="/ppt/slides/slide7.xml" Id="R895e7f6cb7324153" /><Relationship Type="http://schemas.openxmlformats.org/officeDocument/2006/relationships/slide" Target="/ppt/slides/slide8.xml" Id="R927b0f9044174a8d" /><Relationship Type="http://schemas.openxmlformats.org/officeDocument/2006/relationships/slide" Target="/ppt/slides/slide9.xml" Id="Rd79352fbb3694a83" /><Relationship Type="http://schemas.openxmlformats.org/officeDocument/2006/relationships/slide" Target="/ppt/slides/slide10.xml" Id="R5500776fca5b43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7b4782f0ef49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70282960a24958" /><Relationship Type="http://schemas.openxmlformats.org/officeDocument/2006/relationships/notesMaster" Target="/ppt/notesMasters/notesMaster1.xml" Id="Re92873a123f54c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5548c2eda544e1" /><Relationship Type="http://schemas.openxmlformats.org/officeDocument/2006/relationships/notesMaster" Target="/ppt/notesMasters/notesMaster1.xml" Id="R6e95c2a0111742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d9fc66e65345ff" /><Relationship Type="http://schemas.openxmlformats.org/officeDocument/2006/relationships/notesMaster" Target="/ppt/notesMasters/notesMaster1.xml" Id="R9b424a895b4348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e67488904a456f" /><Relationship Type="http://schemas.openxmlformats.org/officeDocument/2006/relationships/notesMaster" Target="/ppt/notesMasters/notesMaster1.xml" Id="R07426fa0241b45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5c6d8381434fe0" /><Relationship Type="http://schemas.openxmlformats.org/officeDocument/2006/relationships/notesMaster" Target="/ppt/notesMasters/notesMaster1.xml" Id="R9cf2aa7cd93d42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8871236699468d" /><Relationship Type="http://schemas.openxmlformats.org/officeDocument/2006/relationships/notesMaster" Target="/ppt/notesMasters/notesMaster1.xml" Id="Rf7e9a7b96f3a47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a2663d4b80435e" /><Relationship Type="http://schemas.openxmlformats.org/officeDocument/2006/relationships/notesMaster" Target="/ppt/notesMasters/notesMaster1.xml" Id="Rb92e6c6c8fd248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5d8a2cc8f74188" /><Relationship Type="http://schemas.openxmlformats.org/officeDocument/2006/relationships/notesMaster" Target="/ppt/notesMasters/notesMaster1.xml" Id="R43bd586d38c24f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96d575b9334c79" /><Relationship Type="http://schemas.openxmlformats.org/officeDocument/2006/relationships/notesMaster" Target="/ppt/notesMasters/notesMaster1.xml" Id="R868a3b1c28b54c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175541769b408c" /><Relationship Type="http://schemas.openxmlformats.org/officeDocument/2006/relationships/notesMaster" Target="/ppt/notesMasters/notesMaster1.xml" Id="R0a6872c8b36540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b23e35cd949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24e034b01346d4" /><Relationship Type="http://schemas.openxmlformats.org/officeDocument/2006/relationships/slideLayout" Target="/ppt/slideLayouts/slideLayout1.xml" Id="Rb0b7884b5b0d4a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b7884b5b0d4a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db8889b2044b3" /><Relationship Type="http://schemas.openxmlformats.org/officeDocument/2006/relationships/notesSlide" Target="/ppt/notesSlides/notesSlide1.xml" Id="Rd244d7ce230048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d44ec34e74829" /><Relationship Type="http://schemas.openxmlformats.org/officeDocument/2006/relationships/chart" Target="/ppt/slides/charts/chart1.xml" Id="R34251f7820ae4a8e" /><Relationship Type="http://schemas.openxmlformats.org/officeDocument/2006/relationships/chart" Target="/ppt/slides/charts/chart2.xml" Id="R53dbe76b85dc4cd3" /><Relationship Type="http://schemas.openxmlformats.org/officeDocument/2006/relationships/notesSlide" Target="/ppt/notesSlides/notesSlide2.xml" Id="Rb7558fe31bdc45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8f2b5f7ce445d" /><Relationship Type="http://schemas.openxmlformats.org/officeDocument/2006/relationships/chart" Target="/ppt/slides/charts/chart3.xml" Id="Rb1da840a54694bdc" /><Relationship Type="http://schemas.openxmlformats.org/officeDocument/2006/relationships/chart" Target="/ppt/slides/charts/chart4.xml" Id="R62b3af04f4764832" /><Relationship Type="http://schemas.openxmlformats.org/officeDocument/2006/relationships/notesSlide" Target="/ppt/notesSlides/notesSlide3.xml" Id="R45721f2bfa2c42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e5d5d21a74465" /><Relationship Type="http://schemas.openxmlformats.org/officeDocument/2006/relationships/chart" Target="/ppt/slides/charts/chart5.xml" Id="R51da7a3a6f5645d7" /><Relationship Type="http://schemas.openxmlformats.org/officeDocument/2006/relationships/notesSlide" Target="/ppt/notesSlides/notesSlide4.xml" Id="R869fbf3f7c6649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b7b9e84034f55" /><Relationship Type="http://schemas.openxmlformats.org/officeDocument/2006/relationships/chart" Target="/ppt/slides/charts/chart6.xml" Id="R2dbdc90e22b44c61" /><Relationship Type="http://schemas.openxmlformats.org/officeDocument/2006/relationships/chart" Target="/ppt/slides/charts/chart7.xml" Id="R8c93eff0f32a4fc4" /><Relationship Type="http://schemas.openxmlformats.org/officeDocument/2006/relationships/notesSlide" Target="/ppt/notesSlides/notesSlide5.xml" Id="Rdca72a5037ae4f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c75be4bbc4bbc" /><Relationship Type="http://schemas.openxmlformats.org/officeDocument/2006/relationships/chart" Target="/ppt/slides/charts/chart8.xml" Id="Rcc2788733a324d8a" /><Relationship Type="http://schemas.openxmlformats.org/officeDocument/2006/relationships/chart" Target="/ppt/slides/charts/chart9.xml" Id="R27df5e2a1ec842cf" /><Relationship Type="http://schemas.openxmlformats.org/officeDocument/2006/relationships/notesSlide" Target="/ppt/notesSlides/notesSlide6.xml" Id="R580f609b57e047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0a284e20b45b6" /><Relationship Type="http://schemas.openxmlformats.org/officeDocument/2006/relationships/chart" Target="/ppt/slides/charts/chart10.xml" Id="Rd3f43b8a5c684ec4" /><Relationship Type="http://schemas.openxmlformats.org/officeDocument/2006/relationships/chart" Target="/ppt/slides/charts/chart11.xml" Id="Rbbdef5407141431e" /><Relationship Type="http://schemas.openxmlformats.org/officeDocument/2006/relationships/notesSlide" Target="/ppt/notesSlides/notesSlide7.xml" Id="Re1a9a805319c43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a7905a37342df" /><Relationship Type="http://schemas.openxmlformats.org/officeDocument/2006/relationships/chart" Target="/ppt/slides/charts/chart12.xml" Id="Rcb473b065be44e86" /><Relationship Type="http://schemas.openxmlformats.org/officeDocument/2006/relationships/chart" Target="/ppt/slides/charts/chart13.xml" Id="Rfbdce92733d441b6" /><Relationship Type="http://schemas.openxmlformats.org/officeDocument/2006/relationships/notesSlide" Target="/ppt/notesSlides/notesSlide8.xml" Id="R6a89eb870c4446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019b33ce547c8" /><Relationship Type="http://schemas.openxmlformats.org/officeDocument/2006/relationships/notesSlide" Target="/ppt/notesSlides/notesSlide9.xml" Id="R39c5ff63bc7f4c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bc841edbd4bcb" /><Relationship Type="http://schemas.openxmlformats.org/officeDocument/2006/relationships/notesSlide" Target="/ppt/notesSlides/notesSlide10.xml" Id="R1efbcca3bc3d4990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‏روند نرخ موفقیت ماهانه</c:v>
          </c:tx>
          <c:spPr>
            <a:ln xmlns:a="http://schemas.openxmlformats.org/drawingml/2006/main" w="38100">
              <a:solidFill>
                <a:srgbClr val="00A6A6"/>
              </a:solidFill>
              <a:prstDash val="solid"/>
            </a:ln>
          </c:spPr>
          <c:marker>
            <c:symbol val="circle"/>
            <c:size val="8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‏فروردین</c:v>
              </c:pt>
              <c:pt idx="1">
                <c:v>‏اردیبهشت</c:v>
              </c:pt>
              <c:pt idx="2">
                <c:v>‏خرداد</c:v>
              </c:pt>
            </c:strLit>
          </c:cat>
          <c:val>
            <c:numLit>
              <c:formatCode>0"%"</c:formatCode>
              <c:ptCount val="3"/>
              <c:pt idx="0">
                <c:v>45.28301886792453</c:v>
              </c:pt>
              <c:pt idx="1">
                <c:v>52.38095238095239</c:v>
              </c:pt>
              <c:pt idx="2">
                <c:v>40.909090909090914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doughnutChart>
        <c:ser>
          <c:idx val="0"/>
          <c:order val="0"/>
          <c:tx>
            <c:v>‏ترکیب نتایج</c:v>
          </c:tx>
          <c:dPt>
            <c:idx val="0"/>
            <c:spPr>
              <a:solidFill xmlns:a="http://schemas.openxmlformats.org/drawingml/2006/main">
                <a:srgbClr val="2E8B57"/>
              </a:solidFill>
            </c:spPr>
          </c:dPt>
          <c:dPt>
            <c:idx val="1"/>
            <c:spPr>
              <a:solidFill xmlns:a="http://schemas.openxmlformats.org/drawingml/2006/main">
                <a:srgbClr val="C64B4B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‏موفق</c:v>
              </c:pt>
              <c:pt idx="1">
                <c:v>‏ناموفق</c:v>
              </c:pt>
            </c:strLit>
          </c:cat>
          <c:val>
            <c:numLit>
              <c:formatCode>General</c:formatCode>
              <c:ptCount val="2"/>
              <c:pt idx="0">
                <c:v>64</c:v>
              </c:pt>
              <c:pt idx="1">
                <c:v>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0"/>
        </c:dLbls>
        <c:holeSize val="58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17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doughnutChart>
        <c:ser>
          <c:idx val="0"/>
          <c:order val="0"/>
          <c:tx>
            <c:v>‏نتیجه احیا</c:v>
          </c:tx>
          <c:dPt>
            <c:idx val="0"/>
            <c:spPr>
              <a:solidFill xmlns:a="http://schemas.openxmlformats.org/drawingml/2006/main">
                <a:srgbClr val="2E8B57"/>
              </a:solidFill>
            </c:spPr>
          </c:dPt>
          <c:dPt>
            <c:idx val="1"/>
            <c:spPr>
              <a:solidFill xmlns:a="http://schemas.openxmlformats.org/drawingml/2006/main">
                <a:srgbClr val="C64B4B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‏موفق</c:v>
              </c:pt>
              <c:pt idx="1">
                <c:v>‏ناموفق</c:v>
              </c:pt>
            </c:strLit>
          </c:cat>
          <c:val>
            <c:numLit>
              <c:formatCode>General</c:formatCode>
              <c:ptCount val="2"/>
              <c:pt idx="0">
                <c:v>64</c:v>
              </c:pt>
              <c:pt idx="1">
                <c:v>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0"/>
        </c:dLbls>
        <c:holeSize val="58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17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‏تعداد رویدادهای ماهانه</c:v>
          </c:tx>
          <c:spPr>
            <a:solidFill xmlns:a="http://schemas.openxmlformats.org/drawingml/2006/main">
              <a:srgbClr val="176B87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‏فروردین</c:v>
              </c:pt>
              <c:pt idx="1">
                <c:v>‏اردیبهشت</c:v>
              </c:pt>
              <c:pt idx="2">
                <c:v>‏خرداد</c:v>
              </c:pt>
            </c:strLit>
          </c:cat>
          <c:val>
            <c:numLit>
              <c:formatCode>0</c:formatCode>
              <c:ptCount val="3"/>
              <c:pt idx="0">
                <c:v>53</c:v>
              </c:pt>
              <c:pt idx="1">
                <c:v>42</c:v>
              </c:pt>
              <c:pt idx="2">
                <c:v>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‏نرخ موفقیت ماهانه</c:v>
          </c:tx>
          <c:spPr>
            <a:ln xmlns:a="http://schemas.openxmlformats.org/drawingml/2006/main" w="38100">
              <a:solidFill>
                <a:srgbClr val="00A6A6"/>
              </a:solidFill>
              <a:prstDash val="solid"/>
            </a:ln>
          </c:spPr>
          <c:marker>
            <c:symbol val="circle"/>
            <c:size val="8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‏فروردین</c:v>
              </c:pt>
              <c:pt idx="1">
                <c:v>‏اردیبهشت</c:v>
              </c:pt>
              <c:pt idx="2">
                <c:v>‏خرداد</c:v>
              </c:pt>
            </c:strLit>
          </c:cat>
          <c:val>
            <c:numLit>
              <c:formatCode>0"%"</c:formatCode>
              <c:ptCount val="3"/>
              <c:pt idx="0">
                <c:v>45.28301886792453</c:v>
              </c:pt>
              <c:pt idx="1">
                <c:v>52.38095238095239</c:v>
              </c:pt>
              <c:pt idx="2">
                <c:v>40.909090909090914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‏توزیع گروه‌های سنی</c:v>
          </c:tx>
          <c:spPr>
            <a:solidFill xmlns:a="http://schemas.openxmlformats.org/drawingml/2006/main">
              <a:srgbClr val="176B87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‏نوزاد</c:v>
              </c:pt>
              <c:pt idx="1">
                <c:v>‏کودک</c:v>
              </c:pt>
              <c:pt idx="2">
                <c:v>‏جوان</c:v>
              </c:pt>
              <c:pt idx="3">
                <c:v>‏میانسال</c:v>
              </c:pt>
              <c:pt idx="4">
                <c:v>‏سالمند</c:v>
              </c:pt>
              <c:pt idx="5">
                <c:v>‏کهنسال</c:v>
              </c:pt>
            </c:strLit>
          </c:cat>
          <c:val>
            <c:numLit>
              <c:formatCode>0</c:formatCode>
              <c:ptCount val="6"/>
              <c:pt idx="0">
                <c:v>6</c:v>
              </c:pt>
              <c:pt idx="1">
                <c:v>2</c:v>
              </c:pt>
              <c:pt idx="2">
                <c:v>9</c:v>
              </c:pt>
              <c:pt idx="3">
                <c:v>23</c:v>
              </c:pt>
              <c:pt idx="4">
                <c:v>72</c:v>
              </c:pt>
              <c:pt idx="5">
                <c:v>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‏نرخ موفقیت گروه‌های سنی</c:v>
          </c:tx>
          <c:spPr>
            <a:solidFill xmlns:a="http://schemas.openxmlformats.org/drawingml/2006/main">
              <a:srgbClr val="00A6A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‏نوزاد</c:v>
              </c:pt>
              <c:pt idx="1">
                <c:v>‏کودک</c:v>
              </c:pt>
              <c:pt idx="2">
                <c:v>‏جوان</c:v>
              </c:pt>
              <c:pt idx="3">
                <c:v>‏میانسال</c:v>
              </c:pt>
              <c:pt idx="4">
                <c:v>‏سالمند</c:v>
              </c:pt>
              <c:pt idx="5">
                <c:v>‏کهنسال</c:v>
              </c:pt>
            </c:strLit>
          </c:cat>
          <c:val>
            <c:numLit>
              <c:formatCode>0"%"</c:formatCode>
              <c:ptCount val="6"/>
              <c:pt idx="0">
                <c:v>66.66666666666666</c:v>
              </c:pt>
              <c:pt idx="1">
                <c:v>50</c:v>
              </c:pt>
              <c:pt idx="2">
                <c:v>44.44444444444444</c:v>
              </c:pt>
              <c:pt idx="3">
                <c:v>43.47826086956522</c:v>
              </c:pt>
              <c:pt idx="4">
                <c:v>44.44444444444444</c:v>
              </c:pt>
              <c:pt idx="5">
                <c:v>48.148148148148145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‏فراوانی CPR در بخش‌ها</c:v>
          </c:tx>
          <c:spPr>
            <a:solidFill xmlns:a="http://schemas.openxmlformats.org/drawingml/2006/main">
              <a:srgbClr val="176B87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7"/>
              <c:pt idx="0">
                <c:v>‏اکو تخصصی</c:v>
              </c:pt>
              <c:pt idx="1">
                <c:v>‏جراحی</c:v>
              </c:pt>
              <c:pt idx="2">
                <c:v>‏زنان</c:v>
              </c:pt>
              <c:pt idx="3">
                <c:v>‏مردان A</c:v>
              </c:pt>
              <c:pt idx="4">
                <c:v>‏NICU</c:v>
              </c:pt>
              <c:pt idx="5">
                <c:v>‏اطفال</c:v>
              </c:pt>
              <c:pt idx="6">
                <c:v>‏مردان C</c:v>
              </c:pt>
              <c:pt idx="7">
                <c:v>‏پست آنژیو</c:v>
              </c:pt>
              <c:pt idx="8">
                <c:v>‏CCU ویژه</c:v>
              </c:pt>
              <c:pt idx="9">
                <c:v>‏ICUA</c:v>
              </c:pt>
              <c:pt idx="10">
                <c:v>‏CCU</c:v>
              </c:pt>
              <c:pt idx="11">
                <c:v>‏PICU</c:v>
              </c:pt>
              <c:pt idx="12">
                <c:v>‏دیالیز</c:v>
              </c:pt>
              <c:pt idx="13">
                <c:v>‏ICUB</c:v>
              </c:pt>
              <c:pt idx="14">
                <c:v>‏آنژیوگرافی</c:v>
              </c:pt>
              <c:pt idx="15">
                <c:v>‏اورژانس</c:v>
              </c:pt>
              <c:pt idx="16">
                <c:v>‏CICU</c:v>
              </c:pt>
            </c:strLit>
          </c:cat>
          <c:val>
            <c:numLit>
              <c:formatCode>General</c:formatCode>
              <c:ptCount val="17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2</c:v>
              </c:pt>
              <c:pt idx="5">
                <c:v>2</c:v>
              </c:pt>
              <c:pt idx="6">
                <c:v>3</c:v>
              </c:pt>
              <c:pt idx="7">
                <c:v>3</c:v>
              </c:pt>
              <c:pt idx="8">
                <c:v>5</c:v>
              </c:pt>
              <c:pt idx="9">
                <c:v>5</c:v>
              </c:pt>
              <c:pt idx="10">
                <c:v>6</c:v>
              </c:pt>
              <c:pt idx="11">
                <c:v>6</c:v>
              </c:pt>
              <c:pt idx="12">
                <c:v>6</c:v>
              </c:pt>
              <c:pt idx="13">
                <c:v>14</c:v>
              </c:pt>
              <c:pt idx="14">
                <c:v>16</c:v>
              </c:pt>
              <c:pt idx="15">
                <c:v>16</c:v>
              </c:pt>
              <c:pt idx="16">
                <c:v>51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7324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‏نرخ موفقیت بخش‌ها</c:v>
          </c:tx>
          <c:spPr>
            <a:solidFill xmlns:a="http://schemas.openxmlformats.org/drawingml/2006/main">
              <a:srgbClr val="00A6A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7"/>
              <c:pt idx="0">
                <c:v>‏مردان A</c:v>
              </c:pt>
              <c:pt idx="1">
                <c:v>‏CICU</c:v>
              </c:pt>
              <c:pt idx="2">
                <c:v>‏ICUB</c:v>
              </c:pt>
              <c:pt idx="3">
                <c:v>‏PICU</c:v>
              </c:pt>
              <c:pt idx="4">
                <c:v>‏ICUA</c:v>
              </c:pt>
              <c:pt idx="5">
                <c:v>‏CCU</c:v>
              </c:pt>
              <c:pt idx="6">
                <c:v>‏دیالیز</c:v>
              </c:pt>
              <c:pt idx="7">
                <c:v>‏اورژانس</c:v>
              </c:pt>
              <c:pt idx="8">
                <c:v>‏آنژیوگرافی</c:v>
              </c:pt>
              <c:pt idx="9">
                <c:v>‏مردان C</c:v>
              </c:pt>
              <c:pt idx="10">
                <c:v>‏CCU ویژه</c:v>
              </c:pt>
              <c:pt idx="11">
                <c:v>‏NICU</c:v>
              </c:pt>
              <c:pt idx="12">
                <c:v>‏اطفال</c:v>
              </c:pt>
              <c:pt idx="13">
                <c:v>‏اکو تخصصی</c:v>
              </c:pt>
              <c:pt idx="14">
                <c:v>‏جراحی</c:v>
              </c:pt>
              <c:pt idx="15">
                <c:v>‏زنان</c:v>
              </c:pt>
              <c:pt idx="16">
                <c:v>‏پست آنژیو</c:v>
              </c:pt>
            </c:strLit>
          </c:cat>
          <c:val>
            <c:numLit>
              <c:formatCode>General</c:formatCode>
              <c:ptCount val="17"/>
              <c:pt idx="0">
                <c:v>0</c:v>
              </c:pt>
              <c:pt idx="1">
                <c:v>27.450980392156865</c:v>
              </c:pt>
              <c:pt idx="2">
                <c:v>28.57142857142857</c:v>
              </c:pt>
              <c:pt idx="3">
                <c:v>33.33333333333333</c:v>
              </c:pt>
              <c:pt idx="4">
                <c:v>40</c:v>
              </c:pt>
              <c:pt idx="5">
                <c:v>50</c:v>
              </c:pt>
              <c:pt idx="6">
                <c:v>50</c:v>
              </c:pt>
              <c:pt idx="7">
                <c:v>56.25</c:v>
              </c:pt>
              <c:pt idx="8">
                <c:v>62.5</c:v>
              </c:pt>
              <c:pt idx="9">
                <c:v>66.66666666666666</c:v>
              </c:pt>
              <c:pt idx="10">
                <c:v>100</c:v>
              </c:pt>
              <c:pt idx="11">
                <c:v>100</c:v>
              </c:pt>
              <c:pt idx="12">
                <c:v>100</c:v>
              </c:pt>
              <c:pt idx="13">
                <c:v>100</c:v>
              </c:pt>
              <c:pt idx="14">
                <c:v>100</c:v>
              </c:pt>
              <c:pt idx="15">
                <c:v>100</c:v>
              </c:pt>
              <c:pt idx="16">
                <c:v>100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7324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10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‏فراوانی CPR در شیفت‌ها</c:v>
          </c:tx>
          <c:spPr>
            <a:solidFill xmlns:a="http://schemas.openxmlformats.org/drawingml/2006/main">
              <a:srgbClr val="176B87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‏شب</c:v>
              </c:pt>
              <c:pt idx="1">
                <c:v>‏صبح</c:v>
              </c:pt>
              <c:pt idx="2">
                <c:v>‏عصر</c:v>
              </c:pt>
            </c:strLit>
          </c:cat>
          <c:val>
            <c:numLit>
              <c:formatCode>0</c:formatCode>
              <c:ptCount val="3"/>
              <c:pt idx="0">
                <c:v>60</c:v>
              </c:pt>
              <c:pt idx="1">
                <c:v>44</c:v>
              </c:pt>
              <c:pt idx="2">
                <c:v>35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1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‏نرخ موفقیت شیفت‌ها</c:v>
          </c:tx>
          <c:spPr>
            <a:solidFill xmlns:a="http://schemas.openxmlformats.org/drawingml/2006/main">
              <a:srgbClr val="00A6A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‏شب</c:v>
              </c:pt>
              <c:pt idx="1">
                <c:v>‏صبح</c:v>
              </c:pt>
              <c:pt idx="2">
                <c:v>‏عصر</c:v>
              </c:pt>
            </c:strLit>
          </c:cat>
          <c:val>
            <c:numLit>
              <c:formatCode>0"%"</c:formatCode>
              <c:ptCount val="3"/>
              <c:pt idx="0">
                <c:v>43.333333333333336</c:v>
              </c:pt>
              <c:pt idx="1">
                <c:v>59.09090909090909</c:v>
              </c:pt>
              <c:pt idx="2">
                <c:v>34.285714285714285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12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‏فراوانی حضور سوپروایزرها</c:v>
          </c:tx>
          <c:spPr>
            <a:solidFill xmlns:a="http://schemas.openxmlformats.org/drawingml/2006/main">
              <a:srgbClr val="176B87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8"/>
              <c:pt idx="0">
                <c:v>‏آقای زارعی</c:v>
              </c:pt>
              <c:pt idx="1">
                <c:v>‏خانم مرادی</c:v>
              </c:pt>
              <c:pt idx="2">
                <c:v>‏آقای امینی</c:v>
              </c:pt>
              <c:pt idx="3">
                <c:v>‏خانم سیف پور</c:v>
              </c:pt>
              <c:pt idx="4">
                <c:v>‏آقای حاجی علی</c:v>
              </c:pt>
              <c:pt idx="5">
                <c:v>‏خانم فانیان</c:v>
              </c:pt>
              <c:pt idx="6">
                <c:v>‏خانم رضائی</c:v>
              </c:pt>
              <c:pt idx="7">
                <c:v>‏خانم گشول</c:v>
              </c:pt>
            </c:strLit>
          </c:cat>
          <c:val>
            <c:numLit>
              <c:formatCode>General</c:formatCode>
              <c:ptCount val="8"/>
              <c:pt idx="0">
                <c:v>3</c:v>
              </c:pt>
              <c:pt idx="1">
                <c:v>11</c:v>
              </c:pt>
              <c:pt idx="2">
                <c:v>14</c:v>
              </c:pt>
              <c:pt idx="3">
                <c:v>14</c:v>
              </c:pt>
              <c:pt idx="4">
                <c:v>20</c:v>
              </c:pt>
              <c:pt idx="5">
                <c:v>21</c:v>
              </c:pt>
              <c:pt idx="6">
                <c:v>27</c:v>
              </c:pt>
              <c:pt idx="7">
                <c:v>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324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13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‏نرخ موفقیت سوپروایزرها</c:v>
          </c:tx>
          <c:spPr>
            <a:solidFill xmlns:a="http://schemas.openxmlformats.org/drawingml/2006/main">
              <a:srgbClr val="00A6A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8"/>
              <c:pt idx="0">
                <c:v>‏آقای امینی</c:v>
              </c:pt>
              <c:pt idx="1">
                <c:v>‏خانم سیف پور</c:v>
              </c:pt>
              <c:pt idx="2">
                <c:v>‏خانم فانیان</c:v>
              </c:pt>
              <c:pt idx="3">
                <c:v>‏آقای حاجی علی</c:v>
              </c:pt>
              <c:pt idx="4">
                <c:v>‏خانم مرادی</c:v>
              </c:pt>
              <c:pt idx="5">
                <c:v>‏خانم گشول</c:v>
              </c:pt>
              <c:pt idx="6">
                <c:v>‏آقای زارعی</c:v>
              </c:pt>
              <c:pt idx="7">
                <c:v>‏خانم رضائی</c:v>
              </c:pt>
            </c:strLit>
          </c:cat>
          <c:val>
            <c:numLit>
              <c:formatCode>General</c:formatCode>
              <c:ptCount val="8"/>
              <c:pt idx="0">
                <c:v>21.428571428571427</c:v>
              </c:pt>
              <c:pt idx="1">
                <c:v>28.57142857142857</c:v>
              </c:pt>
              <c:pt idx="2">
                <c:v>38.095238095238095</c:v>
              </c:pt>
              <c:pt idx="3">
                <c:v>45</c:v>
              </c:pt>
              <c:pt idx="4">
                <c:v>45.45454545454545</c:v>
              </c:pt>
              <c:pt idx="5">
                <c:v>48.275862068965516</c:v>
              </c:pt>
              <c:pt idx="6">
                <c:v>66.66666666666666</c:v>
              </c:pt>
              <c:pt idx="7">
                <c:v>70.37037037037037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324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C143DBB-451C-4148-8709-10658C5F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hospital">
            <a:extLst xmlns:a="http://schemas.openxmlformats.org/drawingml/2006/main">
              <a:ext uri="{FF2B5EF4-FFF2-40B4-BE49-F238E27FC236}">
                <a16:creationId xmlns:a16="http://schemas.microsoft.com/office/drawing/2014/main" id="{600AE56B-808A-4D6B-853C-EB5DD45F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858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B9D3D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B9D3DF"/>
                </a:solidFill>
                <a:latin typeface="Tahoma"/>
                <a:ea typeface="Tahoma"/>
                <a:cs typeface="Tahoma"/>
              </a:rPr>
              <a:t>‏بیمارستان قلب شهید چمران اصفهان</a:t>
            </a:r>
          </a:p>
        </p:txBody>
      </p:sp>
      <p:sp>
        <p:nvSpPr>
          <p:cNvPr id="3" name="main-title">
            <a:extLst xmlns:a="http://schemas.openxmlformats.org/drawingml/2006/main">
              <a:ext uri="{FF2B5EF4-FFF2-40B4-BE49-F238E27FC236}">
                <a16:creationId xmlns:a16="http://schemas.microsoft.com/office/drawing/2014/main" id="{ED215207-AF2F-454D-B417-02CE0C42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847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8526"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‏گزارش عملکرد احیای قلبی ریوی</a:t>
            </a:r>
          </a:p>
        </p:txBody>
      </p:sp>
      <p:sp>
        <p:nvSpPr>
          <p:cNvPr id="4" name="cpr-title">
            <a:extLst xmlns:a="http://schemas.openxmlformats.org/drawingml/2006/main">
              <a:ext uri="{FF2B5EF4-FFF2-40B4-BE49-F238E27FC236}">
                <a16:creationId xmlns:a16="http://schemas.microsoft.com/office/drawing/2014/main" id="{AE6271DA-BD47-4529-8560-AD54B591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A6A6"/>
                </a:solidFill>
                <a:latin typeface="Tahoma"/>
                <a:ea typeface="Tahoma"/>
                <a:cs typeface="Tahoma"/>
              </a:defRPr>
            </a:pPr>
            <a:r>
              <a:rPr sz="4950" b="1">
                <a:solidFill>
                  <a:srgbClr val="00A6A6"/>
                </a:solidFill>
                <a:latin typeface="Tahoma"/>
                <a:ea typeface="Tahoma"/>
                <a:cs typeface="Tahoma"/>
              </a:rPr>
              <a:t>‏CPR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1B11D5A6-A675-4D69-BB8F-15C688D9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66C"/>
          </a:solidFill>
          <a:ln xmlns:a="http://schemas.openxmlformats.org/drawingml/2006/main" w="0">
            <a:solidFill>
              <a:srgbClr val="3A566C"/>
            </a:solidFill>
            <a:prstDash val="solid"/>
          </a:ln>
        </p:spPr>
      </p:sp>
      <p:sp>
        <p:nvSpPr>
          <p:cNvPr id="6" name="period">
            <a:extLst xmlns:a="http://schemas.openxmlformats.org/drawingml/2006/main">
              <a:ext uri="{FF2B5EF4-FFF2-40B4-BE49-F238E27FC236}">
                <a16:creationId xmlns:a16="http://schemas.microsoft.com/office/drawing/2014/main" id="{408C361D-3CD2-48B1-BD41-6318A6E4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‏سه ماهه اول سال 1405</a:t>
            </a:r>
          </a:p>
        </p:txBody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D681817B-0786-4CE2-837C-38DC7D88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D3D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B9D3DF"/>
                </a:solidFill>
                <a:latin typeface="Tahoma"/>
                <a:ea typeface="Tahoma"/>
                <a:cs typeface="Tahoma"/>
              </a:rPr>
              <a:t>‏تهیه‌کننده: کمیته CPR</a:t>
            </a:r>
          </a:p>
        </p:txBody>
      </p:sp>
      <p:sp>
        <p:nvSpPr>
          <p:cNvPr id="8" name="event-count">
            <a:extLst xmlns:a="http://schemas.openxmlformats.org/drawingml/2006/main">
              <a:ext uri="{FF2B5EF4-FFF2-40B4-BE49-F238E27FC236}">
                <a16:creationId xmlns:a16="http://schemas.microsoft.com/office/drawing/2014/main" id="{E949CE74-34CA-43A3-BB1E-4C24B1A7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6197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D3D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B9D3DF"/>
                </a:solidFill>
                <a:latin typeface="Tahoma"/>
                <a:ea typeface="Tahoma"/>
                <a:cs typeface="Tahoma"/>
              </a:rPr>
              <a:t>‏139 رویداد معتبر</a:t>
            </a:r>
          </a:p>
        </p:txBody>
      </p:sp>
    </p:spTree>
    <p:extLst>
      <p:ext uri="{BB962C8B-B14F-4D97-AF65-F5344CB8AC3E}">
        <p14:creationId xmlns:p14="http://schemas.microsoft.com/office/powerpoint/2010/main" val="5097252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5B4FFA8F-5DB1-44E2-89B4-CE04954B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65958F-A713-4BE0-90D8-0CE8FC2C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‏داشبورد مدیریتی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F5508D5-0891-4ED2-8BDA-B0C12A71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FC3B0AD-6A94-4F47-8933-48AB8749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366C99-1B30-41A1-97A1-12AB6B51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‏2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7E1D2A5-E0D7-4D14-9F49-04E72523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کل رویدادها-card">
            <a:extLst xmlns:a="http://schemas.openxmlformats.org/drawingml/2006/main">
              <a:ext uri="{FF2B5EF4-FFF2-40B4-BE49-F238E27FC236}">
                <a16:creationId xmlns:a16="http://schemas.microsoft.com/office/drawing/2014/main" id="{49456501-82BC-4A0F-88B1-F8014EF4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193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8" name="کل رویدادها-accent">
            <a:extLst xmlns:a="http://schemas.openxmlformats.org/drawingml/2006/main">
              <a:ext uri="{FF2B5EF4-FFF2-40B4-BE49-F238E27FC236}">
                <a16:creationId xmlns:a16="http://schemas.microsoft.com/office/drawing/2014/main" id="{5EE5C0A1-5290-4E79-BBAD-056F6112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028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12304A"/>
            </a:solidFill>
            <a:prstDash val="solid"/>
          </a:ln>
        </p:spPr>
      </p:sp>
      <p:sp>
        <p:nvSpPr>
          <p:cNvPr id="9" name="کل رویدادها-label">
            <a:extLst xmlns:a="http://schemas.openxmlformats.org/drawingml/2006/main">
              <a:ext uri="{FF2B5EF4-FFF2-40B4-BE49-F238E27FC236}">
                <a16:creationId xmlns:a16="http://schemas.microsoft.com/office/drawing/2014/main" id="{C9A6A8C0-B886-4A50-8B16-F1260CCF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620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‏کل رویدادها</a:t>
            </a:r>
          </a:p>
        </p:txBody>
      </p:sp>
      <p:sp>
        <p:nvSpPr>
          <p:cNvPr id="10" name="کل رویدادها-value">
            <a:extLst xmlns:a="http://schemas.openxmlformats.org/drawingml/2006/main">
              <a:ext uri="{FF2B5EF4-FFF2-40B4-BE49-F238E27FC236}">
                <a16:creationId xmlns:a16="http://schemas.microsoft.com/office/drawing/2014/main" id="{E7A2C368-F194-4230-8F5E-49D74CA8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‏139</a:t>
            </a:r>
          </a:p>
        </p:txBody>
      </p:sp>
      <p:sp>
        <p:nvSpPr>
          <p:cNvPr id="11" name="کل رویدادها-note">
            <a:extLst xmlns:a="http://schemas.openxmlformats.org/drawingml/2006/main">
              <a:ext uri="{FF2B5EF4-FFF2-40B4-BE49-F238E27FC236}">
                <a16:creationId xmlns:a16="http://schemas.microsoft.com/office/drawing/2014/main" id="{038710BE-C3E6-4B98-86C3-F5C3307F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‏پس از حذف رکورد تکراری</a:t>
            </a:r>
          </a:p>
        </p:txBody>
      </p:sp>
      <p:sp>
        <p:nvSpPr>
          <p:cNvPr id="12" name="احیای موفق-card">
            <a:extLst xmlns:a="http://schemas.openxmlformats.org/drawingml/2006/main">
              <a:ext uri="{FF2B5EF4-FFF2-40B4-BE49-F238E27FC236}">
                <a16:creationId xmlns:a16="http://schemas.microsoft.com/office/drawing/2014/main" id="{395F808F-E0FD-48C9-9F2D-82C3647A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28700"/>
            <a:ext cx="24193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3" name="احیای موفق-accent">
            <a:extLst xmlns:a="http://schemas.openxmlformats.org/drawingml/2006/main">
              <a:ext uri="{FF2B5EF4-FFF2-40B4-BE49-F238E27FC236}">
                <a16:creationId xmlns:a16="http://schemas.microsoft.com/office/drawing/2014/main" id="{13914D28-0098-4455-B0B0-40D40544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028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4" name="احیای موفق-label">
            <a:extLst xmlns:a="http://schemas.openxmlformats.org/drawingml/2006/main">
              <a:ext uri="{FF2B5EF4-FFF2-40B4-BE49-F238E27FC236}">
                <a16:creationId xmlns:a16="http://schemas.microsoft.com/office/drawing/2014/main" id="{50CC1014-01B1-4026-A45C-772E578E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1620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‏احیای موفق</a:t>
            </a:r>
          </a:p>
        </p:txBody>
      </p:sp>
      <p:sp>
        <p:nvSpPr>
          <p:cNvPr id="15" name="احیای موفق-value">
            <a:extLst xmlns:a="http://schemas.openxmlformats.org/drawingml/2006/main">
              <a:ext uri="{FF2B5EF4-FFF2-40B4-BE49-F238E27FC236}">
                <a16:creationId xmlns:a16="http://schemas.microsoft.com/office/drawing/2014/main" id="{972F4D61-91C3-4A3C-8C76-7ED5E002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2E8B57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2E8B57"/>
                </a:solidFill>
                <a:latin typeface="Tahoma"/>
                <a:ea typeface="Tahoma"/>
                <a:cs typeface="Tahoma"/>
              </a:rPr>
              <a:t>‏64</a:t>
            </a:r>
          </a:p>
        </p:txBody>
      </p:sp>
      <p:sp>
        <p:nvSpPr>
          <p:cNvPr id="16" name="احیای ناموفق-card">
            <a:extLst xmlns:a="http://schemas.openxmlformats.org/drawingml/2006/main">
              <a:ext uri="{FF2B5EF4-FFF2-40B4-BE49-F238E27FC236}">
                <a16:creationId xmlns:a16="http://schemas.microsoft.com/office/drawing/2014/main" id="{65F9190E-525E-4626-99B2-D125F9D7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028700"/>
            <a:ext cx="24193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7" name="احیای ناموفق-accent">
            <a:extLst xmlns:a="http://schemas.openxmlformats.org/drawingml/2006/main">
              <a:ext uri="{FF2B5EF4-FFF2-40B4-BE49-F238E27FC236}">
                <a16:creationId xmlns:a16="http://schemas.microsoft.com/office/drawing/2014/main" id="{BF37E2F9-0ABD-4A11-B242-EC31F031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028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B4B"/>
          </a:solidFill>
          <a:ln xmlns:a="http://schemas.openxmlformats.org/drawingml/2006/main" w="0">
            <a:solidFill>
              <a:srgbClr val="C64B4B"/>
            </a:solidFill>
            <a:prstDash val="solid"/>
          </a:ln>
        </p:spPr>
      </p:sp>
      <p:sp>
        <p:nvSpPr>
          <p:cNvPr id="18" name="احیای ناموفق-label">
            <a:extLst xmlns:a="http://schemas.openxmlformats.org/drawingml/2006/main">
              <a:ext uri="{FF2B5EF4-FFF2-40B4-BE49-F238E27FC236}">
                <a16:creationId xmlns:a16="http://schemas.microsoft.com/office/drawing/2014/main" id="{65533F86-03ED-47FF-A0EB-171BC855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620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‏احیای ناموفق</a:t>
            </a:r>
          </a:p>
        </p:txBody>
      </p:sp>
      <p:sp>
        <p:nvSpPr>
          <p:cNvPr id="19" name="احیای ناموفق-value">
            <a:extLst xmlns:a="http://schemas.openxmlformats.org/drawingml/2006/main">
              <a:ext uri="{FF2B5EF4-FFF2-40B4-BE49-F238E27FC236}">
                <a16:creationId xmlns:a16="http://schemas.microsoft.com/office/drawing/2014/main" id="{7937B479-EC3F-430A-836E-B41F148B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C64B4B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C64B4B"/>
                </a:solidFill>
                <a:latin typeface="Tahoma"/>
                <a:ea typeface="Tahoma"/>
                <a:cs typeface="Tahoma"/>
              </a:rPr>
              <a:t>‏75</a:t>
            </a:r>
          </a:p>
        </p:txBody>
      </p:sp>
      <p:sp>
        <p:nvSpPr>
          <p:cNvPr id="20" name="نرخ موفقیت-card">
            <a:extLst xmlns:a="http://schemas.openxmlformats.org/drawingml/2006/main">
              <a:ext uri="{FF2B5EF4-FFF2-40B4-BE49-F238E27FC236}">
                <a16:creationId xmlns:a16="http://schemas.microsoft.com/office/drawing/2014/main" id="{6B95B360-9670-4166-A56A-BC2F0B83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028700"/>
            <a:ext cx="24193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21" name="نرخ موفقیت-accent">
            <a:extLst xmlns:a="http://schemas.openxmlformats.org/drawingml/2006/main">
              <a:ext uri="{FF2B5EF4-FFF2-40B4-BE49-F238E27FC236}">
                <a16:creationId xmlns:a16="http://schemas.microsoft.com/office/drawing/2014/main" id="{2F06FAA6-18BB-4AB1-A004-604868ED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028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2" name="نرخ موفقیت-label">
            <a:extLst xmlns:a="http://schemas.openxmlformats.org/drawingml/2006/main">
              <a:ext uri="{FF2B5EF4-FFF2-40B4-BE49-F238E27FC236}">
                <a16:creationId xmlns:a16="http://schemas.microsoft.com/office/drawing/2014/main" id="{43D27ADC-92C4-4AE3-AA02-632D946F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620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‏نرخ موفقیت</a:t>
            </a:r>
          </a:p>
        </p:txBody>
      </p:sp>
      <p:sp>
        <p:nvSpPr>
          <p:cNvPr id="23" name="نرخ موفقیت-value">
            <a:extLst xmlns:a="http://schemas.openxmlformats.org/drawingml/2006/main">
              <a:ext uri="{FF2B5EF4-FFF2-40B4-BE49-F238E27FC236}">
                <a16:creationId xmlns:a16="http://schemas.microsoft.com/office/drawing/2014/main" id="{4727A166-C801-4F8B-8982-9D47C747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00A6A6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00A6A6"/>
                </a:solidFill>
                <a:latin typeface="Tahoma"/>
                <a:ea typeface="Tahoma"/>
                <a:cs typeface="Tahoma"/>
              </a:rPr>
              <a:t>‏46%</a:t>
            </a:r>
          </a:p>
        </p:txBody>
      </p:sp>
      <p:sp>
        <p:nvSpPr>
          <p:cNvPr id="24" name="روند نرخ موفقیت ماهانه-chart-title">
            <a:extLst xmlns:a="http://schemas.openxmlformats.org/drawingml/2006/main">
              <a:ext uri="{FF2B5EF4-FFF2-40B4-BE49-F238E27FC236}">
                <a16:creationId xmlns:a16="http://schemas.microsoft.com/office/drawing/2014/main" id="{9AF5287B-3EED-4B3F-BE6A-0DAAC225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‏روند نرخ موفقیت ماهانه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85800" y="2647950"/>
          <a:ext xmlns:a="http://schemas.openxmlformats.org/drawingml/2006/main" cx="695325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251f7820ae4a8e"/>
          </a:graphicData>
        </a:graphic>
      </p:graphicFrame>
      <p:sp>
        <p:nvSpPr>
          <p:cNvPr id="26" name="ترکیب نتایج-chart-title">
            <a:extLst xmlns:a="http://schemas.openxmlformats.org/drawingml/2006/main">
              <a:ext uri="{FF2B5EF4-FFF2-40B4-BE49-F238E27FC236}">
                <a16:creationId xmlns:a16="http://schemas.microsoft.com/office/drawing/2014/main" id="{7938ACFE-6C81-42A8-B81D-2295E039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‏ترکیب نتایج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7886700" y="2647950"/>
          <a:ext xmlns:a="http://schemas.openxmlformats.org/drawingml/2006/main" cx="361950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dbe76b85dc4cd3"/>
          </a:graphicData>
        </a:graphic>
      </p:graphicFrame>
    </p:spTree>
    <p:extLst>
      <p:ext uri="{BB962C8B-B14F-4D97-AF65-F5344CB8AC3E}">
        <p14:creationId xmlns:p14="http://schemas.microsoft.com/office/powerpoint/2010/main" val="451036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C4812A87-28D8-4FF1-9AC0-8C2364C4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F7E36B-ED7C-425E-8AF4-325843BD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‏نتیجه و حجم رویدادها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8D9D60F-F8B2-483D-8916-54F355C3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6ADDBC1-3A6F-46AE-8E31-8D4AEE80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3E5538-D187-433E-AEAD-8362CF67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‏3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98A448A-651C-4C1D-9E4B-D6E1502F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نتیجه احیا-chart-title">
            <a:extLst xmlns:a="http://schemas.openxmlformats.org/drawingml/2006/main">
              <a:ext uri="{FF2B5EF4-FFF2-40B4-BE49-F238E27FC236}">
                <a16:creationId xmlns:a16="http://schemas.microsoft.com/office/drawing/2014/main" id="{5013F165-C64B-45A1-987D-4D867686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‏نتیجه احیا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390650"/>
          <a:ext xmlns:a="http://schemas.openxmlformats.org/drawingml/2006/main" cx="520065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da840a54694bdc"/>
          </a:graphicData>
        </a:graphic>
      </p:graphicFrame>
      <p:sp>
        <p:nvSpPr>
          <p:cNvPr id="9" name="تعداد رویدادهای ماهانه-chart-title">
            <a:extLst xmlns:a="http://schemas.openxmlformats.org/drawingml/2006/main">
              <a:ext uri="{FF2B5EF4-FFF2-40B4-BE49-F238E27FC236}">
                <a16:creationId xmlns:a16="http://schemas.microsoft.com/office/drawing/2014/main" id="{DACA7523-A9E6-48F3-90CB-DA351FB7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066800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‏تعداد رویدادهای ماهانه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305550" y="1390650"/>
          <a:ext xmlns:a="http://schemas.openxmlformats.org/drawingml/2006/main" cx="520065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b3af04f4764832"/>
          </a:graphicData>
        </a:graphic>
      </p:graphicFrame>
      <p:sp>
        <p:nvSpPr>
          <p:cNvPr id="11" name="بیشترین حجم بخش-insight">
            <a:extLst xmlns:a="http://schemas.openxmlformats.org/drawingml/2006/main">
              <a:ext uri="{FF2B5EF4-FFF2-40B4-BE49-F238E27FC236}">
                <a16:creationId xmlns:a16="http://schemas.microsoft.com/office/drawing/2014/main" id="{1C2E6252-0E8B-4F12-8FDC-880C605C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714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2" name="بیشترین حجم بخش-bar">
            <a:extLst xmlns:a="http://schemas.openxmlformats.org/drawingml/2006/main">
              <a:ext uri="{FF2B5EF4-FFF2-40B4-BE49-F238E27FC236}">
                <a16:creationId xmlns:a16="http://schemas.microsoft.com/office/drawing/2014/main" id="{CCE5C140-45A5-417D-9A58-D566CB6C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13" name="بیشترین حجم بخش-text">
            <a:extLst xmlns:a="http://schemas.openxmlformats.org/drawingml/2006/main">
              <a:ext uri="{FF2B5EF4-FFF2-40B4-BE49-F238E27FC236}">
                <a16:creationId xmlns:a16="http://schemas.microsoft.com/office/drawing/2014/main" id="{DE7A3872-FD2D-46A1-92B9-E31E9DD4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‏بیشترین حجم بخش: CICU، 51 رویداد</a:t>
            </a:r>
          </a:p>
        </p:txBody>
      </p:sp>
      <p:sp>
        <p:nvSpPr>
          <p:cNvPr id="14" name="پرتراکم‌ترین شیفت-insight">
            <a:extLst xmlns:a="http://schemas.openxmlformats.org/drawingml/2006/main">
              <a:ext uri="{FF2B5EF4-FFF2-40B4-BE49-F238E27FC236}">
                <a16:creationId xmlns:a16="http://schemas.microsoft.com/office/drawing/2014/main" id="{75885544-CF67-434C-95FE-5BF358A1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714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5" name="پرتراکم‌ترین شیفت-bar">
            <a:extLst xmlns:a="http://schemas.openxmlformats.org/drawingml/2006/main">
              <a:ext uri="{FF2B5EF4-FFF2-40B4-BE49-F238E27FC236}">
                <a16:creationId xmlns:a16="http://schemas.microsoft.com/office/drawing/2014/main" id="{ABB81248-FC96-41DD-AD17-BAD8DAC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6" name="پرتراکم‌ترین شیفت-text">
            <a:extLst xmlns:a="http://schemas.openxmlformats.org/drawingml/2006/main">
              <a:ext uri="{FF2B5EF4-FFF2-40B4-BE49-F238E27FC236}">
                <a16:creationId xmlns:a16="http://schemas.microsoft.com/office/drawing/2014/main" id="{9A0516CD-F72F-4F23-84F9-8ABC8FE8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‏پرتراکم‌ترین شیفت: شب، 60 رویداد</a:t>
            </a:r>
          </a:p>
        </p:txBody>
      </p:sp>
      <p:sp>
        <p:nvSpPr>
          <p:cNvPr id="17" name="outcome-note">
            <a:extLst xmlns:a="http://schemas.openxmlformats.org/drawingml/2006/main">
              <a:ext uri="{FF2B5EF4-FFF2-40B4-BE49-F238E27FC236}">
                <a16:creationId xmlns:a16="http://schemas.microsoft.com/office/drawing/2014/main" id="{E78F521C-753F-4847-8E32-DC913ACB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674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64B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C64B4B"/>
                </a:solidFill>
                <a:latin typeface="Tahoma"/>
                <a:ea typeface="Tahoma"/>
                <a:cs typeface="Tahoma"/>
              </a:rPr>
              <a:t>‏11 مورد فاصله میان احیای ناموفق و موفق ثبت شده است.</a:t>
            </a:r>
          </a:p>
        </p:txBody>
      </p:sp>
    </p:spTree>
    <p:extLst>
      <p:ext uri="{BB962C8B-B14F-4D97-AF65-F5344CB8AC3E}">
        <p14:creationId xmlns:p14="http://schemas.microsoft.com/office/powerpoint/2010/main" val="4002593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EBB602BF-5D8D-4FED-8AA1-37CB4DFA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8A6D3C-08DB-4903-A08C-8D179883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‏عملکرد ماهانه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9B55E71-E1DB-4882-91E6-A49DE902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BDD6B63-F098-451F-BD47-8B396156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A2373D-C5EA-4BE1-94EE-EC6ED9E3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‏4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C1C77C4-3281-40C2-90E9-07F2492B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نرخ موفقیت ماهانه-chart-title">
            <a:extLst xmlns:a="http://schemas.openxmlformats.org/drawingml/2006/main">
              <a:ext uri="{FF2B5EF4-FFF2-40B4-BE49-F238E27FC236}">
                <a16:creationId xmlns:a16="http://schemas.microsoft.com/office/drawing/2014/main" id="{03B07F85-AF4D-4DCC-A9D0-6D546A24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1239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‏نرخ موفقیت ماهانه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4552950" y="1447800"/>
          <a:ext xmlns:a="http://schemas.openxmlformats.org/drawingml/2006/main" cx="695325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da7a3a6f5645d7"/>
          </a:graphicData>
        </a:graphic>
      </p:graphicFrame>
      <p:sp>
        <p:nvSpPr>
          <p:cNvPr id="9" name="بهترین ماه-insight">
            <a:extLst xmlns:a="http://schemas.openxmlformats.org/drawingml/2006/main">
              <a:ext uri="{FF2B5EF4-FFF2-40B4-BE49-F238E27FC236}">
                <a16:creationId xmlns:a16="http://schemas.microsoft.com/office/drawing/2014/main" id="{226358A3-2F37-41F0-9B8D-EAEAD2EB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714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0" name="بهترین ماه-bar">
            <a:extLst xmlns:a="http://schemas.openxmlformats.org/drawingml/2006/main">
              <a:ext uri="{FF2B5EF4-FFF2-40B4-BE49-F238E27FC236}">
                <a16:creationId xmlns:a16="http://schemas.microsoft.com/office/drawing/2014/main" id="{9B151625-0686-4F6C-9767-5BBE9169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1" name="بهترین ماه-text">
            <a:extLst xmlns:a="http://schemas.openxmlformats.org/drawingml/2006/main">
              <a:ext uri="{FF2B5EF4-FFF2-40B4-BE49-F238E27FC236}">
                <a16:creationId xmlns:a16="http://schemas.microsoft.com/office/drawing/2014/main" id="{18EAA6C9-7429-4693-810D-A6C8F43C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‏بهترین ماه: اردیبهشت، 52.4%</a:t>
            </a:r>
          </a:p>
        </p:txBody>
      </p:sp>
      <p:sp>
        <p:nvSpPr>
          <p:cNvPr id="12" name="کمترین نرخ-insight">
            <a:extLst xmlns:a="http://schemas.openxmlformats.org/drawingml/2006/main">
              <a:ext uri="{FF2B5EF4-FFF2-40B4-BE49-F238E27FC236}">
                <a16:creationId xmlns:a16="http://schemas.microsoft.com/office/drawing/2014/main" id="{41F28712-4B8F-42DD-B7AF-828935A4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714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3" name="کمترین نرخ-bar">
            <a:extLst xmlns:a="http://schemas.openxmlformats.org/drawingml/2006/main">
              <a:ext uri="{FF2B5EF4-FFF2-40B4-BE49-F238E27FC236}">
                <a16:creationId xmlns:a16="http://schemas.microsoft.com/office/drawing/2014/main" id="{8FFAF24E-1331-42B6-86E0-B01B5086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B4B"/>
          </a:solidFill>
          <a:ln xmlns:a="http://schemas.openxmlformats.org/drawingml/2006/main" w="0">
            <a:solidFill>
              <a:srgbClr val="C64B4B"/>
            </a:solidFill>
            <a:prstDash val="solid"/>
          </a:ln>
        </p:spPr>
      </p:sp>
      <p:sp>
        <p:nvSpPr>
          <p:cNvPr id="14" name="کمترین نرخ-text">
            <a:extLst xmlns:a="http://schemas.openxmlformats.org/drawingml/2006/main">
              <a:ext uri="{FF2B5EF4-FFF2-40B4-BE49-F238E27FC236}">
                <a16:creationId xmlns:a16="http://schemas.microsoft.com/office/drawing/2014/main" id="{0E4EC293-7018-4F54-91B7-564D5F2D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‏کمترین نرخ: خرداد، 40.9%</a:t>
            </a:r>
          </a:p>
        </p:txBody>
      </p:sp>
      <p:sp>
        <p:nvSpPr>
          <p:cNvPr id="15" name="میانگین کل-insight">
            <a:extLst xmlns:a="http://schemas.openxmlformats.org/drawingml/2006/main">
              <a:ext uri="{FF2B5EF4-FFF2-40B4-BE49-F238E27FC236}">
                <a16:creationId xmlns:a16="http://schemas.microsoft.com/office/drawing/2014/main" id="{3CED573C-2A17-4F5F-9D70-652DF90B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714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6" name="میانگین کل-bar">
            <a:extLst xmlns:a="http://schemas.openxmlformats.org/drawingml/2006/main">
              <a:ext uri="{FF2B5EF4-FFF2-40B4-BE49-F238E27FC236}">
                <a16:creationId xmlns:a16="http://schemas.microsoft.com/office/drawing/2014/main" id="{27D06A0E-571A-49F2-991A-CA8B343E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7" name="میانگین کل-text">
            <a:extLst xmlns:a="http://schemas.openxmlformats.org/drawingml/2006/main">
              <a:ext uri="{FF2B5EF4-FFF2-40B4-BE49-F238E27FC236}">
                <a16:creationId xmlns:a16="http://schemas.microsoft.com/office/drawing/2014/main" id="{1FE50F89-59F6-4611-BB56-DB5E48CE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‏میانگین کل: 46%</a:t>
            </a:r>
          </a:p>
        </p:txBody>
      </p:sp>
      <p:sp>
        <p:nvSpPr>
          <p:cNvPr id="18" name="monthly-takeaway">
            <a:extLst xmlns:a="http://schemas.openxmlformats.org/drawingml/2006/main">
              <a:ext uri="{FF2B5EF4-FFF2-40B4-BE49-F238E27FC236}">
                <a16:creationId xmlns:a16="http://schemas.microsoft.com/office/drawing/2014/main" id="{369B66F0-D1B0-45CB-812D-050404AC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‏نوسان ماهانه نشان می‌دهد پایش فرآیند و ترکیب تیم‌ها باید در سطح ماه و شیفت ادامه یابد.</a:t>
            </a:r>
          </a:p>
        </p:txBody>
      </p:sp>
    </p:spTree>
    <p:extLst>
      <p:ext uri="{BB962C8B-B14F-4D97-AF65-F5344CB8AC3E}">
        <p14:creationId xmlns:p14="http://schemas.microsoft.com/office/powerpoint/2010/main" val="13924174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70C3BA3A-FB6B-4540-9EA4-F37EB759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6CBF4C-747A-4510-A352-79E9ABB0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‏نمای سنی بیماران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EF97C5D-4FC1-4BA5-9627-FB8A723D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AA93C91-C96F-41C0-AD61-495AD63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9E9AC6-4226-45A1-8D7E-B3CE71DA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‏5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6177CD4-6E89-41F0-BAD0-64E9E652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توزیع گروه‌های سنی-chart-title">
            <a:extLst xmlns:a="http://schemas.openxmlformats.org/drawingml/2006/main">
              <a:ext uri="{FF2B5EF4-FFF2-40B4-BE49-F238E27FC236}">
                <a16:creationId xmlns:a16="http://schemas.microsoft.com/office/drawing/2014/main" id="{77FA55E4-C917-4B2B-A4C6-0A5EB256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‏توزیع گروه‌های سنی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390650"/>
          <a:ext xmlns:a="http://schemas.openxmlformats.org/drawingml/2006/main" cx="5238750" cy="4010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bdc90e22b44c61"/>
          </a:graphicData>
        </a:graphic>
      </p:graphicFrame>
      <p:sp>
        <p:nvSpPr>
          <p:cNvPr id="9" name="نرخ موفقیت گروه‌های سنی-chart-title">
            <a:extLst xmlns:a="http://schemas.openxmlformats.org/drawingml/2006/main">
              <a:ext uri="{FF2B5EF4-FFF2-40B4-BE49-F238E27FC236}">
                <a16:creationId xmlns:a16="http://schemas.microsoft.com/office/drawing/2014/main" id="{DEFB20E8-C18E-4264-81A9-3A78E68C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6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‏نرخ موفقیت گروه‌های سنی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267450" y="1390650"/>
          <a:ext xmlns:a="http://schemas.openxmlformats.org/drawingml/2006/main" cx="5238750" cy="4010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93eff0f32a4fc4"/>
          </a:graphicData>
        </a:graphic>
      </p:graphicFrame>
      <p:sp>
        <p:nvSpPr>
          <p:cNvPr id="11" name="takeaway-box">
            <a:extLst xmlns:a="http://schemas.openxmlformats.org/drawingml/2006/main">
              <a:ext uri="{FF2B5EF4-FFF2-40B4-BE49-F238E27FC236}">
                <a16:creationId xmlns:a16="http://schemas.microsoft.com/office/drawing/2014/main" id="{7E59AE6A-6303-404F-B528-F8129DBB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69A9BB01-DB7B-49B4-8FD8-99B88495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‏میانگین سن 63.2 و میانه سن 68 سال است.</a:t>
            </a:r>
          </a:p>
        </p:txBody>
      </p:sp>
    </p:spTree>
    <p:extLst>
      <p:ext uri="{BB962C8B-B14F-4D97-AF65-F5344CB8AC3E}">
        <p14:creationId xmlns:p14="http://schemas.microsoft.com/office/powerpoint/2010/main" val="257581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DC977907-68BC-43F8-827C-412652F7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5E87EC-E31F-4D24-BF6D-C4439CFA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‏عملکرد بخش‌ها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2B6EDEA-41B7-4965-BD8C-7F210384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5D853A8-77D8-460B-BCEF-4E78A54B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F32B544-C998-4A6C-85AE-8D48A331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‏6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C8F2340-F6C0-4833-B07A-3C33A62A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فراوانی CPR در بخش‌ها-chart-title">
            <a:extLst xmlns:a="http://schemas.openxmlformats.org/drawingml/2006/main">
              <a:ext uri="{FF2B5EF4-FFF2-40B4-BE49-F238E27FC236}">
                <a16:creationId xmlns:a16="http://schemas.microsoft.com/office/drawing/2014/main" id="{B885BE5A-83A3-47B2-BBDE-0CFD70D4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‏فراوانی CPR در بخش‌ها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390650"/>
          <a:ext xmlns:a="http://schemas.openxmlformats.org/drawingml/2006/main" cx="5238750" cy="4010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2788733a324d8a"/>
          </a:graphicData>
        </a:graphic>
      </p:graphicFrame>
      <p:sp>
        <p:nvSpPr>
          <p:cNvPr id="9" name="نرخ موفقیت بخش‌ها-chart-title">
            <a:extLst xmlns:a="http://schemas.openxmlformats.org/drawingml/2006/main">
              <a:ext uri="{FF2B5EF4-FFF2-40B4-BE49-F238E27FC236}">
                <a16:creationId xmlns:a16="http://schemas.microsoft.com/office/drawing/2014/main" id="{491A7C67-D352-4B18-A51C-FBD337CA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6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‏نرخ موفقیت بخش‌ها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267450" y="1390650"/>
          <a:ext xmlns:a="http://schemas.openxmlformats.org/drawingml/2006/main" cx="5238750" cy="4010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df5e2a1ec842cf"/>
          </a:graphicData>
        </a:graphic>
      </p:graphicFrame>
      <p:sp>
        <p:nvSpPr>
          <p:cNvPr id="11" name="takeaway-box">
            <a:extLst xmlns:a="http://schemas.openxmlformats.org/drawingml/2006/main">
              <a:ext uri="{FF2B5EF4-FFF2-40B4-BE49-F238E27FC236}">
                <a16:creationId xmlns:a16="http://schemas.microsoft.com/office/drawing/2014/main" id="{DACC1417-2316-474D-A9C3-89FEEBD5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994CC8E1-6179-4B08-835E-3F86FD18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‏CICU با 51 رویداد، بیشترین حجم CPR را داشته است.</a:t>
            </a:r>
          </a:p>
        </p:txBody>
      </p:sp>
    </p:spTree>
    <p:extLst>
      <p:ext uri="{BB962C8B-B14F-4D97-AF65-F5344CB8AC3E}">
        <p14:creationId xmlns:p14="http://schemas.microsoft.com/office/powerpoint/2010/main" val="4284396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29AF6F33-1F0E-4147-BD43-DDA5D60B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C8F06F-A47B-4702-93EB-20DC77D8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‏عملکرد شیفت‌ها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68AC311-C5D3-4E19-9F21-64657F1E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57DE8AA-DB6C-4D31-8173-5ED29EA0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57ED56-00A5-442C-BF46-516B16C2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‏7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4A14DC-B0CD-410F-90BE-DE004BEC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فراوانی CPR در شیفت‌ها-chart-title">
            <a:extLst xmlns:a="http://schemas.openxmlformats.org/drawingml/2006/main">
              <a:ext uri="{FF2B5EF4-FFF2-40B4-BE49-F238E27FC236}">
                <a16:creationId xmlns:a16="http://schemas.microsoft.com/office/drawing/2014/main" id="{E735B62E-E7C1-4126-8BE7-F411522C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‏فراوانی CPR در شیفت‌ها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390650"/>
          <a:ext xmlns:a="http://schemas.openxmlformats.org/drawingml/2006/main" cx="5238750" cy="4010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f43b8a5c684ec4"/>
          </a:graphicData>
        </a:graphic>
      </p:graphicFrame>
      <p:sp>
        <p:nvSpPr>
          <p:cNvPr id="9" name="نرخ موفقیت شیفت‌ها-chart-title">
            <a:extLst xmlns:a="http://schemas.openxmlformats.org/drawingml/2006/main">
              <a:ext uri="{FF2B5EF4-FFF2-40B4-BE49-F238E27FC236}">
                <a16:creationId xmlns:a16="http://schemas.microsoft.com/office/drawing/2014/main" id="{C530DE69-54AD-4EBD-8DD7-ACEB421F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6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‏نرخ موفقیت شیفت‌ها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267450" y="1390650"/>
          <a:ext xmlns:a="http://schemas.openxmlformats.org/drawingml/2006/main" cx="5238750" cy="4010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def5407141431e"/>
          </a:graphicData>
        </a:graphic>
      </p:graphicFrame>
      <p:sp>
        <p:nvSpPr>
          <p:cNvPr id="11" name="takeaway-box">
            <a:extLst xmlns:a="http://schemas.openxmlformats.org/drawingml/2006/main">
              <a:ext uri="{FF2B5EF4-FFF2-40B4-BE49-F238E27FC236}">
                <a16:creationId xmlns:a16="http://schemas.microsoft.com/office/drawing/2014/main" id="{4701515B-2A6F-45E6-940A-A42E6914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3660BC38-7BC8-4C5A-9B74-C1D6A61F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‏شیفت شب با 60 رویداد، پرتراکم‌ترین شیفت بوده است.</a:t>
            </a:r>
          </a:p>
        </p:txBody>
      </p:sp>
    </p:spTree>
    <p:extLst>
      <p:ext uri="{BB962C8B-B14F-4D97-AF65-F5344CB8AC3E}">
        <p14:creationId xmlns:p14="http://schemas.microsoft.com/office/powerpoint/2010/main" val="7177534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77E79D52-6601-434B-B30B-3EBAB5E2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B3E8CF-6AB3-4325-960D-1D87201C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‏عملکرد سوپروایزرها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9C0FB5F-25FA-4440-B655-EA46C312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B78FA87-D260-49A1-9E21-BDE1FD93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2C787D-1CF5-46C4-B263-9788234D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‏8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EE69030-96F3-4B12-A6F3-D33CB0E0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فراوانی حضور سوپروایزرها-chart-title">
            <a:extLst xmlns:a="http://schemas.openxmlformats.org/drawingml/2006/main">
              <a:ext uri="{FF2B5EF4-FFF2-40B4-BE49-F238E27FC236}">
                <a16:creationId xmlns:a16="http://schemas.microsoft.com/office/drawing/2014/main" id="{EE6C30AE-C2B3-44B1-98C0-2DDD3D64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‏فراوانی حضور سوپروایزرها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390650"/>
          <a:ext xmlns:a="http://schemas.openxmlformats.org/drawingml/2006/main" cx="5238750" cy="4010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473b065be44e86"/>
          </a:graphicData>
        </a:graphic>
      </p:graphicFrame>
      <p:sp>
        <p:nvSpPr>
          <p:cNvPr id="9" name="نرخ موفقیت سوپروایزرها-chart-title">
            <a:extLst xmlns:a="http://schemas.openxmlformats.org/drawingml/2006/main">
              <a:ext uri="{FF2B5EF4-FFF2-40B4-BE49-F238E27FC236}">
                <a16:creationId xmlns:a16="http://schemas.microsoft.com/office/drawing/2014/main" id="{8C063A83-10F6-4F3E-8365-413BE1EA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6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‏نرخ موفقیت سوپروایزرها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267450" y="1390650"/>
          <a:ext xmlns:a="http://schemas.openxmlformats.org/drawingml/2006/main" cx="5238750" cy="4010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dce92733d441b6"/>
          </a:graphicData>
        </a:graphic>
      </p:graphicFrame>
      <p:sp>
        <p:nvSpPr>
          <p:cNvPr id="11" name="takeaway-box">
            <a:extLst xmlns:a="http://schemas.openxmlformats.org/drawingml/2006/main">
              <a:ext uri="{FF2B5EF4-FFF2-40B4-BE49-F238E27FC236}">
                <a16:creationId xmlns:a16="http://schemas.microsoft.com/office/drawing/2014/main" id="{44853B4A-1322-413D-AA05-D37A07A4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CD66D3E6-F387-4BCF-BFF3-CF32EF58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‏خانم رضائی با نرخ 70.4% در 27 مورد، بهترین عملکرد واجد حداقل حجم را ثبت کرده است.</a:t>
            </a:r>
          </a:p>
        </p:txBody>
      </p:sp>
    </p:spTree>
    <p:extLst>
      <p:ext uri="{BB962C8B-B14F-4D97-AF65-F5344CB8AC3E}">
        <p14:creationId xmlns:p14="http://schemas.microsoft.com/office/powerpoint/2010/main" val="8122964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0E31F9E5-52D0-4D0D-8625-4DF3821B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82A609-30C6-4D19-A480-F1E99188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‏الگوی تراکم رویدادها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2C3762B-9815-4B2B-AC2D-7D480741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AC09EEA-E95A-480E-998F-FD0DEB1B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B1279A-9046-4073-983E-EE83A49B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‏9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E3F83EE-9D51-49A0-9140-CFBE5220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بخش و شیفت-chart-title">
            <a:extLst xmlns:a="http://schemas.openxmlformats.org/drawingml/2006/main">
              <a:ext uri="{FF2B5EF4-FFF2-40B4-BE49-F238E27FC236}">
                <a16:creationId xmlns:a16="http://schemas.microsoft.com/office/drawing/2014/main" id="{CBD2C89F-E6AD-41EF-B0F1-2DAF90DB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‏بخش و شیفت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85800" y="1447800"/>
          <a:ext xmlns:a="http://schemas.openxmlformats.org/drawingml/2006/main" cx="619125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47813"/>
                <a:gridCol w="1547813"/>
                <a:gridCol w="1547813"/>
                <a:gridCol w="1547813"/>
              </a:tblGrid>
              <a:tr h="219604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‏بخش</a:t>
                      </a:r>
                    </a:p>
                  </a:txBody>
                  <a:tcPr marL="91440" marR="91440" marT="45720" marB="4572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‏شب</a:t>
                      </a:r>
                    </a:p>
                  </a:txBody>
                  <a:tcPr marL="91440" marR="91440" marT="45720" marB="4572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‏صبح</a:t>
                      </a:r>
                    </a:p>
                  </a:txBody>
                  <a:tcPr marL="91440" marR="91440" marT="45720" marB="4572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‏عصر</a:t>
                      </a:r>
                    </a:p>
                  </a:txBody>
                  <a:tcPr marL="91440" marR="91440" marT="45720" marB="45720">
                    <a:solidFill>
                      <a:srgbClr val="12304A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CCU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CCU ویژه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CICU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148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55B6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148A8A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ICUA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ICUB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NICU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PICU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آنژیوگرافی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اطفال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اورژانس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اکو تخصصی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جراحی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دیالیز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زنان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مردان A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مردان C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پست آنژیو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</a:tr>
            </a:tbl>
          </a:graphicData>
        </a:graphic>
      </p:graphicFrame>
      <p:sp>
        <p:nvSpPr>
          <p:cNvPr id="9" name="ماه و شیفت-chart-title">
            <a:extLst xmlns:a="http://schemas.openxmlformats.org/drawingml/2006/main">
              <a:ext uri="{FF2B5EF4-FFF2-40B4-BE49-F238E27FC236}">
                <a16:creationId xmlns:a16="http://schemas.microsoft.com/office/drawing/2014/main" id="{5B6CE63D-039D-4038-8BBB-EE174B3D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066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‏ماه و شیفت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162800" y="1447800"/>
          <a:ext xmlns:a="http://schemas.openxmlformats.org/drawingml/2006/main" cx="43434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5850"/>
                <a:gridCol w="1085850"/>
                <a:gridCol w="1085850"/>
                <a:gridCol w="1085850"/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‏ماه</a:t>
                      </a:r>
                    </a:p>
                  </a:txBody>
                  <a:tcPr marL="91440" marR="91440" marT="45720" marB="4572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‏شب</a:t>
                      </a:r>
                    </a:p>
                  </a:txBody>
                  <a:tcPr marL="91440" marR="91440" marT="45720" marB="4572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‏صبح</a:t>
                      </a:r>
                    </a:p>
                  </a:txBody>
                  <a:tcPr marL="91440" marR="91440" marT="45720" marB="4572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‏عصر</a:t>
                      </a:r>
                    </a:p>
                  </a:txBody>
                  <a:tcPr marL="91440" marR="91440" marT="45720" marB="45720">
                    <a:solidFill>
                      <a:srgbClr val="12304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r"/>
                      <a:r>
                        <a:rPr sz="825" b="1">
                          <a:solidFill>
                            <a:srgbClr val="17324D"/>
                          </a:solidFill>
                        </a:rPr>
                        <a:t>فروردین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148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55B6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r"/>
                      <a:r>
                        <a:rPr sz="825" b="1">
                          <a:solidFill>
                            <a:srgbClr val="17324D"/>
                          </a:solidFill>
                        </a:rPr>
                        <a:t>اردیبهشت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55B6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r"/>
                      <a:r>
                        <a:rPr sz="825" b="1">
                          <a:solidFill>
                            <a:srgbClr val="17324D"/>
                          </a:solidFill>
                        </a:rPr>
                        <a:t>خرداد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55B6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55B6B3"/>
                    </a:solidFill>
                  </a:tcPr>
                </a:tc>
              </a:tr>
            </a:tbl>
          </a:graphicData>
        </a:graphic>
      </p:graphicFrame>
      <p:sp>
        <p:nvSpPr>
          <p:cNvPr id="11" name="heatmap-note">
            <a:extLst xmlns:a="http://schemas.openxmlformats.org/drawingml/2006/main">
              <a:ext uri="{FF2B5EF4-FFF2-40B4-BE49-F238E27FC236}">
                <a16:creationId xmlns:a16="http://schemas.microsoft.com/office/drawing/2014/main" id="{041790FD-032D-4779-8221-04FA18F3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9100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‏سلول تیره‌تر نشان‌دهنده تعداد بیشتر رویداد است.</a:t>
            </a:r>
          </a:p>
        </p:txBody>
      </p:sp>
      <p:sp>
        <p:nvSpPr>
          <p:cNvPr id="12" name="takeaway-box">
            <a:extLst xmlns:a="http://schemas.openxmlformats.org/drawingml/2006/main">
              <a:ext uri="{FF2B5EF4-FFF2-40B4-BE49-F238E27FC236}">
                <a16:creationId xmlns:a16="http://schemas.microsoft.com/office/drawing/2014/main" id="{96714D91-ED8D-486A-9D0E-C4F3038B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AB7C0D81-C757-4B2D-9544-C59BE097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‏نقشه‌های حرارتی نقاط تمرکز عملیاتی را برای برنامه‌ریزی نیروی انسانی مشخص می‌کنند.</a:t>
            </a:r>
          </a:p>
        </p:txBody>
      </p:sp>
    </p:spTree>
    <p:extLst>
      <p:ext uri="{BB962C8B-B14F-4D97-AF65-F5344CB8AC3E}">
        <p14:creationId xmlns:p14="http://schemas.microsoft.com/office/powerpoint/2010/main" val="14272551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0F7B2B37-8C73-42D1-A981-F9A0F231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287446-6F3A-46F0-BAE8-E4F6DB06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‏جمع‌بندی مدیریتی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20F2C74-5AB0-41DE-A9AF-5828C666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ABBAE9B-E09E-48A0-B153-3F90D8F1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FEF68C-CDF1-4713-8FAB-E89A179E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‏10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A5A50D5-26BB-4D4F-8C3A-794EE8EB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rec-۱">
            <a:extLst xmlns:a="http://schemas.openxmlformats.org/drawingml/2006/main">
              <a:ext uri="{FF2B5EF4-FFF2-40B4-BE49-F238E27FC236}">
                <a16:creationId xmlns:a16="http://schemas.microsoft.com/office/drawing/2014/main" id="{6FCC77FC-2E2A-40D7-A90D-DE2D49B2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8" name="rec-num-۱">
            <a:extLst xmlns:a="http://schemas.openxmlformats.org/drawingml/2006/main">
              <a:ext uri="{FF2B5EF4-FFF2-40B4-BE49-F238E27FC236}">
                <a16:creationId xmlns:a16="http://schemas.microsoft.com/office/drawing/2014/main" id="{983F14EB-B0E7-4CF3-92FD-AA0F582D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323975"/>
            <a:ext cx="5524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64B4B"/>
          </a:solidFill>
          <a:ln xmlns:a="http://schemas.openxmlformats.org/drawingml/2006/main" w="0">
            <a:solidFill>
              <a:srgbClr val="C64B4B"/>
            </a:solidFill>
            <a:prstDash val="solid"/>
          </a:ln>
        </p:spPr>
      </p:sp>
      <p:sp>
        <p:nvSpPr>
          <p:cNvPr id="9" name="rec-num-text-۱">
            <a:extLst xmlns:a="http://schemas.openxmlformats.org/drawingml/2006/main">
              <a:ext uri="{FF2B5EF4-FFF2-40B4-BE49-F238E27FC236}">
                <a16:creationId xmlns:a16="http://schemas.microsoft.com/office/drawing/2014/main" id="{4167DC23-34AC-4621-968E-C9ED54F4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3239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‏۱</a:t>
            </a:r>
          </a:p>
        </p:txBody>
      </p:sp>
      <p:sp>
        <p:nvSpPr>
          <p:cNvPr id="10" name="rec-head-۱">
            <a:extLst xmlns:a="http://schemas.openxmlformats.org/drawingml/2006/main">
              <a:ext uri="{FF2B5EF4-FFF2-40B4-BE49-F238E27FC236}">
                <a16:creationId xmlns:a16="http://schemas.microsoft.com/office/drawing/2014/main" id="{069E5D1B-16D3-4599-B06E-C366D7D2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76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‏تمرکز بر ماه با کمترین نرخ</a:t>
            </a:r>
          </a:p>
        </p:txBody>
      </p:sp>
      <p:sp>
        <p:nvSpPr>
          <p:cNvPr id="11" name="rec-body-۱">
            <a:extLst xmlns:a="http://schemas.openxmlformats.org/drawingml/2006/main">
              <a:ext uri="{FF2B5EF4-FFF2-40B4-BE49-F238E27FC236}">
                <a16:creationId xmlns:a16="http://schemas.microsoft.com/office/drawing/2014/main" id="{775535F3-C6C8-4775-AF00-40157B89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00200"/>
            <a:ext cx="939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‏بررسی علل افت خرداد با نرخ 40.9% در سطح بخش و شیفت.</a:t>
            </a:r>
          </a:p>
        </p:txBody>
      </p:sp>
      <p:sp>
        <p:nvSpPr>
          <p:cNvPr id="12" name="rec-۲">
            <a:extLst xmlns:a="http://schemas.openxmlformats.org/drawingml/2006/main">
              <a:ext uri="{FF2B5EF4-FFF2-40B4-BE49-F238E27FC236}">
                <a16:creationId xmlns:a16="http://schemas.microsoft.com/office/drawing/2014/main" id="{89E4A3D3-E2EF-4169-85C5-72CE0753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8204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13" name="rec-num-۲">
            <a:extLst xmlns:a="http://schemas.openxmlformats.org/drawingml/2006/main">
              <a:ext uri="{FF2B5EF4-FFF2-40B4-BE49-F238E27FC236}">
                <a16:creationId xmlns:a16="http://schemas.microsoft.com/office/drawing/2014/main" id="{2D53C3EB-0E30-4D9B-937F-BE74037B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524125"/>
            <a:ext cx="5524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4" name="rec-num-text-۲">
            <a:extLst xmlns:a="http://schemas.openxmlformats.org/drawingml/2006/main">
              <a:ext uri="{FF2B5EF4-FFF2-40B4-BE49-F238E27FC236}">
                <a16:creationId xmlns:a16="http://schemas.microsoft.com/office/drawing/2014/main" id="{053F53C3-8B7A-4F63-AF66-C2CF1DD5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5241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‏۲</a:t>
            </a:r>
          </a:p>
        </p:txBody>
      </p:sp>
      <p:sp>
        <p:nvSpPr>
          <p:cNvPr id="15" name="rec-head-۲">
            <a:extLst xmlns:a="http://schemas.openxmlformats.org/drawingml/2006/main">
              <a:ext uri="{FF2B5EF4-FFF2-40B4-BE49-F238E27FC236}">
                <a16:creationId xmlns:a16="http://schemas.microsoft.com/office/drawing/2014/main" id="{A7985B13-0566-431E-A9E6-A9609B83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‏استانداردسازی تجربه تیم برتر</a:t>
            </a:r>
          </a:p>
        </p:txBody>
      </p:sp>
      <p:sp>
        <p:nvSpPr>
          <p:cNvPr id="16" name="rec-body-۲">
            <a:extLst xmlns:a="http://schemas.openxmlformats.org/drawingml/2006/main">
              <a:ext uri="{FF2B5EF4-FFF2-40B4-BE49-F238E27FC236}">
                <a16:creationId xmlns:a16="http://schemas.microsoft.com/office/drawing/2014/main" id="{2B65FF58-77B2-4B8C-8695-6D68FD02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939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‏انتقال تجربه خانم رضائی به سایر تیم‌ها؛ رتبه‌بندی با حداقل 5 مورد انجام شده است.</a:t>
            </a:r>
          </a:p>
        </p:txBody>
      </p:sp>
      <p:sp>
        <p:nvSpPr>
          <p:cNvPr id="17" name="rec-۳">
            <a:extLst xmlns:a="http://schemas.openxmlformats.org/drawingml/2006/main">
              <a:ext uri="{FF2B5EF4-FFF2-40B4-BE49-F238E27FC236}">
                <a16:creationId xmlns:a16="http://schemas.microsoft.com/office/drawing/2014/main" id="{9A336930-2386-497D-92D7-507FF408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8" name="rec-num-۳">
            <a:extLst xmlns:a="http://schemas.openxmlformats.org/drawingml/2006/main">
              <a:ext uri="{FF2B5EF4-FFF2-40B4-BE49-F238E27FC236}">
                <a16:creationId xmlns:a16="http://schemas.microsoft.com/office/drawing/2014/main" id="{A4F37334-BCC3-4ABE-A2B4-6E2D8F5B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724275"/>
            <a:ext cx="5524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9" name="rec-num-text-۳">
            <a:extLst xmlns:a="http://schemas.openxmlformats.org/drawingml/2006/main">
              <a:ext uri="{FF2B5EF4-FFF2-40B4-BE49-F238E27FC236}">
                <a16:creationId xmlns:a16="http://schemas.microsoft.com/office/drawing/2014/main" id="{952C0BE6-D644-492B-AC58-119BF11C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724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‏۳</a:t>
            </a:r>
          </a:p>
        </p:txBody>
      </p:sp>
      <p:sp>
        <p:nvSpPr>
          <p:cNvPr id="20" name="rec-head-۳">
            <a:extLst xmlns:a="http://schemas.openxmlformats.org/drawingml/2006/main">
              <a:ext uri="{FF2B5EF4-FFF2-40B4-BE49-F238E27FC236}">
                <a16:creationId xmlns:a16="http://schemas.microsoft.com/office/drawing/2014/main" id="{07FDD26D-A7D1-4093-B50A-1AF85C3A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‏مدیریت ظرفیت عملیاتی</a:t>
            </a:r>
          </a:p>
        </p:txBody>
      </p:sp>
      <p:sp>
        <p:nvSpPr>
          <p:cNvPr id="21" name="rec-body-۳">
            <a:extLst xmlns:a="http://schemas.openxmlformats.org/drawingml/2006/main">
              <a:ext uri="{FF2B5EF4-FFF2-40B4-BE49-F238E27FC236}">
                <a16:creationId xmlns:a16="http://schemas.microsoft.com/office/drawing/2014/main" id="{CBEE8347-6458-48EC-85A9-C50BE84C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939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‏بازنگری پوشش نیروی انسانی در شیفت شب و بخش CICU.</a:t>
            </a:r>
          </a:p>
        </p:txBody>
      </p:sp>
      <p:sp>
        <p:nvSpPr>
          <p:cNvPr id="22" name="rec-۴">
            <a:extLst xmlns:a="http://schemas.openxmlformats.org/drawingml/2006/main">
              <a:ext uri="{FF2B5EF4-FFF2-40B4-BE49-F238E27FC236}">
                <a16:creationId xmlns:a16="http://schemas.microsoft.com/office/drawing/2014/main" id="{766D48E5-E708-4400-B393-9C5575BD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23" name="rec-num-۴">
            <a:extLst xmlns:a="http://schemas.openxmlformats.org/drawingml/2006/main">
              <a:ext uri="{FF2B5EF4-FFF2-40B4-BE49-F238E27FC236}">
                <a16:creationId xmlns:a16="http://schemas.microsoft.com/office/drawing/2014/main" id="{F4D6A8B8-2114-48F9-9535-80E1E42E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24425"/>
            <a:ext cx="5524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4" name="rec-num-text-۴">
            <a:extLst xmlns:a="http://schemas.openxmlformats.org/drawingml/2006/main">
              <a:ext uri="{FF2B5EF4-FFF2-40B4-BE49-F238E27FC236}">
                <a16:creationId xmlns:a16="http://schemas.microsoft.com/office/drawing/2014/main" id="{7E4BE7DB-E74E-4449-BFA9-F6E5ACAA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244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‏۴</a:t>
            </a:r>
          </a:p>
        </p:txBody>
      </p:sp>
      <p:sp>
        <p:nvSpPr>
          <p:cNvPr id="25" name="rec-head-۴">
            <a:extLst xmlns:a="http://schemas.openxmlformats.org/drawingml/2006/main">
              <a:ext uri="{FF2B5EF4-FFF2-40B4-BE49-F238E27FC236}">
                <a16:creationId xmlns:a16="http://schemas.microsoft.com/office/drawing/2014/main" id="{7E14DE27-501F-46C3-9703-FD8C4CDF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768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‏کنترل کیفیت داده</a:t>
            </a:r>
          </a:p>
        </p:txBody>
      </p:sp>
      <p:sp>
        <p:nvSpPr>
          <p:cNvPr id="26" name="rec-body-۴">
            <a:extLst xmlns:a="http://schemas.openxmlformats.org/drawingml/2006/main">
              <a:ext uri="{FF2B5EF4-FFF2-40B4-BE49-F238E27FC236}">
                <a16:creationId xmlns:a16="http://schemas.microsoft.com/office/drawing/2014/main" id="{FA0B607A-7877-4197-8192-F6F55E4F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939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‏2 رکورد تکراری حذف شد؛ کنترل تکرار و یکسان‌سازی نام‌ها در ورود داده الزامی است.</a:t>
            </a:r>
          </a:p>
        </p:txBody>
      </p:sp>
    </p:spTree>
    <p:extLst>
      <p:ext uri="{BB962C8B-B14F-4D97-AF65-F5344CB8AC3E}">
        <p14:creationId xmlns:p14="http://schemas.microsoft.com/office/powerpoint/2010/main" val="1906318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2026-06-24T19:46:15.6040000Z</dcterms:created>
  <dcterms:modified xsi:type="dcterms:W3CDTF">2026-06-24T19:46:15.6040000Z</dcterms:modified>
</coreProperties>
</file>